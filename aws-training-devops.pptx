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94" r:id="rId3"/>
    <p:sldId id="295" r:id="rId4"/>
    <p:sldId id="296" r:id="rId5"/>
    <p:sldId id="298" r:id="rId6"/>
    <p:sldId id="297" r:id="rId7"/>
    <p:sldId id="286" r:id="rId8"/>
    <p:sldId id="285" r:id="rId9"/>
    <p:sldId id="287" r:id="rId10"/>
    <p:sldId id="288" r:id="rId11"/>
    <p:sldId id="289" r:id="rId12"/>
    <p:sldId id="257" r:id="rId13"/>
    <p:sldId id="279" r:id="rId14"/>
    <p:sldId id="278" r:id="rId15"/>
    <p:sldId id="258" r:id="rId16"/>
    <p:sldId id="259" r:id="rId17"/>
    <p:sldId id="260" r:id="rId18"/>
    <p:sldId id="280" r:id="rId19"/>
    <p:sldId id="281" r:id="rId20"/>
    <p:sldId id="282" r:id="rId21"/>
    <p:sldId id="283" r:id="rId22"/>
    <p:sldId id="261" r:id="rId23"/>
    <p:sldId id="284" r:id="rId24"/>
    <p:sldId id="290" r:id="rId25"/>
    <p:sldId id="291" r:id="rId26"/>
    <p:sldId id="292" r:id="rId27"/>
    <p:sldId id="29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C25E23-827E-4057-BC01-3CDA1B73C4B5}"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4247049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C25E23-827E-4057-BC01-3CDA1B73C4B5}"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294820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C25E23-827E-4057-BC01-3CDA1B73C4B5}"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714977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C25E23-827E-4057-BC01-3CDA1B73C4B5}"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3707774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C25E23-827E-4057-BC01-3CDA1B73C4B5}" type="datetimeFigureOut">
              <a:rPr lang="en-US" smtClean="0"/>
              <a:t>3/20/2018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2267226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C25E23-827E-4057-BC01-3CDA1B73C4B5}" type="datetimeFigureOut">
              <a:rPr lang="en-US" smtClean="0"/>
              <a:t>3/20/2018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3240301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C25E23-827E-4057-BC01-3CDA1B73C4B5}" type="datetimeFigureOut">
              <a:rPr lang="en-US" smtClean="0"/>
              <a:t>3/20/2018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549914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9C25E23-827E-4057-BC01-3CDA1B73C4B5}"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2676563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9C25E23-827E-4057-BC01-3CDA1B73C4B5}"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2953884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C25E23-827E-4057-BC01-3CDA1B73C4B5}"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1926259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C25E23-827E-4057-BC01-3CDA1B73C4B5}"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CCBB7-14CD-4870-A185-D4177C8E72F2}" type="slidenum">
              <a:rPr lang="en-US" smtClean="0"/>
              <a:t>‹#›</a:t>
            </a:fld>
            <a:endParaRPr lang="en-US"/>
          </a:p>
        </p:txBody>
      </p:sp>
    </p:spTree>
    <p:extLst>
      <p:ext uri="{BB962C8B-B14F-4D97-AF65-F5344CB8AC3E}">
        <p14:creationId xmlns:p14="http://schemas.microsoft.com/office/powerpoint/2010/main" val="2677458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C25E23-827E-4057-BC01-3CDA1B73C4B5}" type="datetimeFigureOut">
              <a:rPr lang="en-US" smtClean="0"/>
              <a:t>3/20/2018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CCBB7-14CD-4870-A185-D4177C8E72F2}" type="slidenum">
              <a:rPr lang="en-US" smtClean="0"/>
              <a:t>‹#›</a:t>
            </a:fld>
            <a:endParaRPr lang="en-US"/>
          </a:p>
        </p:txBody>
      </p:sp>
    </p:spTree>
    <p:extLst>
      <p:ext uri="{BB962C8B-B14F-4D97-AF65-F5344CB8AC3E}">
        <p14:creationId xmlns:p14="http://schemas.microsoft.com/office/powerpoint/2010/main" val="1465581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terraform.io/intro/index.html#execution-plans" TargetMode="External"/><Relationship Id="rId2" Type="http://schemas.openxmlformats.org/officeDocument/2006/relationships/hyperlink" Target="https://www.terraform.io/intro/index.html#infrastructure-as-code" TargetMode="External"/><Relationship Id="rId1" Type="http://schemas.openxmlformats.org/officeDocument/2006/relationships/slideLayout" Target="../slideLayouts/slideLayout2.xml"/><Relationship Id="rId5" Type="http://schemas.openxmlformats.org/officeDocument/2006/relationships/hyperlink" Target="https://www.terraform.io/intro/index.html#change-automation" TargetMode="External"/><Relationship Id="rId4" Type="http://schemas.openxmlformats.org/officeDocument/2006/relationships/hyperlink" Target="https://www.terraform.io/intro/index.html#resource-graph"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hashicorp.com/blog/category/terraform" TargetMode="External"/><Relationship Id="rId7" Type="http://schemas.openxmlformats.org/officeDocument/2006/relationships/hyperlink" Target="https://github.com/hashicorp/hcl" TargetMode="External"/><Relationship Id="rId2" Type="http://schemas.openxmlformats.org/officeDocument/2006/relationships/hyperlink" Target="https://github.com/hashicorp/terraform" TargetMode="External"/><Relationship Id="rId1" Type="http://schemas.openxmlformats.org/officeDocument/2006/relationships/slideLayout" Target="../slideLayouts/slideLayout2.xml"/><Relationship Id="rId6" Type="http://schemas.openxmlformats.org/officeDocument/2006/relationships/hyperlink" Target="https://releases.hashicorp.com/terraform/" TargetMode="External"/><Relationship Id="rId5" Type="http://schemas.openxmlformats.org/officeDocument/2006/relationships/hyperlink" Target="https://www.terraform.io/downloads.html" TargetMode="External"/><Relationship Id="rId4" Type="http://schemas.openxmlformats.org/officeDocument/2006/relationships/hyperlink" Target="https://www.hashicorp.com/blog/terraform-announcement"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terraform.io/docs/providers/aws/"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terraform-aws-modules/terraform-aws-ec2-instance/blob/master/examples/basic/main.tf"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aws.amazon.com/iam/" TargetMode="External"/><Relationship Id="rId2" Type="http://schemas.openxmlformats.org/officeDocument/2006/relationships/hyperlink" Target="https://aws.amazon.com/km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ws.amazon.com/devops/continuous-integration/" TargetMode="External"/><Relationship Id="rId2" Type="http://schemas.openxmlformats.org/officeDocument/2006/relationships/hyperlink" Target="https://aws.amazon.com/devops/continuous-deliver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atlassian.com/" TargetMode="External"/><Relationship Id="rId2" Type="http://schemas.openxmlformats.org/officeDocument/2006/relationships/hyperlink" Target="https://www.atlassian.com/software/bamboo"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hyperlink" Target="https://pivotal.io/agil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058886" y="365126"/>
            <a:ext cx="4595949" cy="954224"/>
          </a:xfrm>
        </p:spPr>
        <p:txBody>
          <a:bodyPr/>
          <a:lstStyle/>
          <a:p>
            <a:r>
              <a:rPr lang="en-US" b="1" dirty="0" smtClean="0"/>
              <a:t>AWS Training topics </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2952870319"/>
              </p:ext>
            </p:extLst>
          </p:nvPr>
        </p:nvGraphicFramePr>
        <p:xfrm>
          <a:off x="2576830" y="1606730"/>
          <a:ext cx="5560060" cy="2831625"/>
        </p:xfrm>
        <a:graphic>
          <a:graphicData uri="http://schemas.openxmlformats.org/drawingml/2006/table">
            <a:tbl>
              <a:tblPr/>
              <a:tblGrid>
                <a:gridCol w="5560060">
                  <a:extLst>
                    <a:ext uri="{9D8B030D-6E8A-4147-A177-3AD203B41FA5}">
                      <a16:colId xmlns:a16="http://schemas.microsoft.com/office/drawing/2014/main" val="1949630699"/>
                    </a:ext>
                  </a:extLst>
                </a:gridCol>
              </a:tblGrid>
              <a:tr h="566325">
                <a:tc>
                  <a:txBody>
                    <a:bodyPr/>
                    <a:lstStyle/>
                    <a:p>
                      <a:pPr algn="l" fontAlgn="ctr"/>
                      <a:r>
                        <a:rPr lang="en-US" sz="1600" b="0" i="0" u="none" strike="noStrike" dirty="0">
                          <a:solidFill>
                            <a:srgbClr val="000000"/>
                          </a:solidFill>
                          <a:effectLst/>
                          <a:latin typeface="Calibri" panose="020F0502020204030204" pitchFamily="34" charset="0"/>
                        </a:rPr>
                        <a:t>CI/CD pipeline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49826460"/>
                  </a:ext>
                </a:extLst>
              </a:tr>
              <a:tr h="566325">
                <a:tc>
                  <a:txBody>
                    <a:bodyPr/>
                    <a:lstStyle/>
                    <a:p>
                      <a:pPr algn="l" fontAlgn="ctr"/>
                      <a:r>
                        <a:rPr lang="en-US" sz="1600" b="0" i="0" u="none" strike="noStrike" dirty="0">
                          <a:solidFill>
                            <a:srgbClr val="000000"/>
                          </a:solidFill>
                          <a:effectLst/>
                          <a:latin typeface="Calibri" panose="020F0502020204030204" pitchFamily="34" charset="0"/>
                        </a:rPr>
                        <a:t>CI Tools basics (Jenkin/bamboo/concourse)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33321467"/>
                  </a:ext>
                </a:extLst>
              </a:tr>
              <a:tr h="566325">
                <a:tc>
                  <a:txBody>
                    <a:bodyPr/>
                    <a:lstStyle/>
                    <a:p>
                      <a:pPr algn="l" fontAlgn="ctr"/>
                      <a:r>
                        <a:rPr lang="en-US" sz="1600" b="0" i="0" u="none" strike="noStrike" dirty="0">
                          <a:solidFill>
                            <a:srgbClr val="000000"/>
                          </a:solidFill>
                          <a:effectLst/>
                          <a:latin typeface="Calibri" panose="020F0502020204030204" pitchFamily="34" charset="0"/>
                        </a:rPr>
                        <a:t>CD Tools Basic (</a:t>
                      </a:r>
                      <a:r>
                        <a:rPr lang="en-US" sz="1600" b="0" i="0" u="none" strike="noStrike" dirty="0" err="1">
                          <a:solidFill>
                            <a:srgbClr val="000000"/>
                          </a:solidFill>
                          <a:effectLst/>
                          <a:latin typeface="Calibri" panose="020F0502020204030204" pitchFamily="34" charset="0"/>
                        </a:rPr>
                        <a:t>Anisible</a:t>
                      </a:r>
                      <a:r>
                        <a:rPr lang="en-US" sz="1600" b="0" i="0" u="none" strike="noStrike">
                          <a:solidFill>
                            <a:srgbClr val="000000"/>
                          </a:solidFill>
                          <a:effectLst/>
                          <a:latin typeface="Calibri" panose="020F0502020204030204" pitchFamily="34" charset="0"/>
                        </a:rPr>
                        <a:t>/Chef/pupet)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76085771"/>
                  </a:ext>
                </a:extLst>
              </a:tr>
              <a:tr h="566325">
                <a:tc>
                  <a:txBody>
                    <a:bodyPr/>
                    <a:lstStyle/>
                    <a:p>
                      <a:pPr algn="l" fontAlgn="ctr"/>
                      <a:r>
                        <a:rPr lang="en-US" sz="1600" b="0" i="0" u="none" strike="noStrike">
                          <a:solidFill>
                            <a:srgbClr val="000000"/>
                          </a:solidFill>
                          <a:effectLst/>
                          <a:latin typeface="Calibri" panose="020F0502020204030204" pitchFamily="34" charset="0"/>
                        </a:rPr>
                        <a:t>Automation build tools(Terraform/Packer)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401237164"/>
                  </a:ext>
                </a:extLst>
              </a:tr>
              <a:tr h="566325">
                <a:tc>
                  <a:txBody>
                    <a:bodyPr/>
                    <a:lstStyle/>
                    <a:p>
                      <a:pPr algn="l" fontAlgn="ctr"/>
                      <a:r>
                        <a:rPr lang="en-US" sz="1600" b="0" i="0" u="none" strike="noStrike" dirty="0">
                          <a:solidFill>
                            <a:srgbClr val="000000"/>
                          </a:solidFill>
                          <a:effectLst/>
                          <a:latin typeface="Calibri" panose="020F0502020204030204" pitchFamily="34" charset="0"/>
                        </a:rPr>
                        <a:t>GIT/</a:t>
                      </a:r>
                      <a:r>
                        <a:rPr lang="en-US" sz="1600" b="0" i="0" u="none" strike="noStrike" dirty="0" err="1">
                          <a:solidFill>
                            <a:srgbClr val="000000"/>
                          </a:solidFill>
                          <a:effectLst/>
                          <a:latin typeface="Calibri" panose="020F0502020204030204" pitchFamily="34" charset="0"/>
                        </a:rPr>
                        <a:t>CodeCommit</a:t>
                      </a:r>
                      <a:r>
                        <a:rPr lang="en-US" sz="1600" b="0" i="0" u="none" strike="noStrike" dirty="0">
                          <a:solidFill>
                            <a:srgbClr val="000000"/>
                          </a:solidFill>
                          <a:effectLst/>
                          <a:latin typeface="Calibri" panose="020F0502020204030204" pitchFamily="34" charset="0"/>
                        </a:rPr>
                        <a:t>/</a:t>
                      </a:r>
                      <a:r>
                        <a:rPr lang="en-US" sz="1600" b="0" i="0" u="none" strike="noStrike" dirty="0" err="1">
                          <a:solidFill>
                            <a:srgbClr val="000000"/>
                          </a:solidFill>
                          <a:effectLst/>
                          <a:latin typeface="Calibri" panose="020F0502020204030204" pitchFamily="34" charset="0"/>
                        </a:rPr>
                        <a:t>CodeDepoly</a:t>
                      </a:r>
                      <a:r>
                        <a:rPr lang="en-US" sz="1600" b="0" i="0" u="none" strike="noStrike" dirty="0">
                          <a:solidFill>
                            <a:srgbClr val="000000"/>
                          </a:solidFill>
                          <a:effectLst/>
                          <a:latin typeface="Calibri" panose="020F0502020204030204" pitchFamily="34" charset="0"/>
                        </a:rPr>
                        <a:t> </a:t>
                      </a:r>
                      <a:r>
                        <a:rPr lang="en-US" sz="1600" b="0" i="0" u="none" strike="noStrike" dirty="0" err="1">
                          <a:solidFill>
                            <a:srgbClr val="000000"/>
                          </a:solidFill>
                          <a:effectLst/>
                          <a:latin typeface="Calibri" panose="020F0502020204030204" pitchFamily="34" charset="0"/>
                        </a:rPr>
                        <a:t>OverView</a:t>
                      </a:r>
                      <a:endParaRPr lang="en-US" sz="16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491928098"/>
                  </a:ext>
                </a:extLst>
              </a:tr>
            </a:tbl>
          </a:graphicData>
        </a:graphic>
      </p:graphicFrame>
    </p:spTree>
    <p:extLst>
      <p:ext uri="{BB962C8B-B14F-4D97-AF65-F5344CB8AC3E}">
        <p14:creationId xmlns:p14="http://schemas.microsoft.com/office/powerpoint/2010/main" val="1999801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7234" y="190139"/>
            <a:ext cx="11791406" cy="5909310"/>
          </a:xfrm>
          <a:prstGeom prst="rect">
            <a:avLst/>
          </a:prstGeom>
        </p:spPr>
        <p:txBody>
          <a:bodyPr wrap="square">
            <a:spAutoFit/>
          </a:bodyPr>
          <a:lstStyle/>
          <a:p>
            <a:pPr lvl="8"/>
            <a:r>
              <a:rPr lang="en-US" b="1" dirty="0" smtClean="0"/>
              <a:t>Infra automation - Terraform</a:t>
            </a:r>
            <a:r>
              <a:rPr lang="en-US" dirty="0" smtClean="0"/>
              <a:t> </a:t>
            </a:r>
            <a:endParaRPr lang="en-US" dirty="0"/>
          </a:p>
          <a:p>
            <a:r>
              <a:rPr lang="en-US" dirty="0"/>
              <a:t>Terraform is a tool for building, changing, and versioning infrastructure safely and efficiently. Terraform can manage existing and popular service providers as well as custom in-house solutions.</a:t>
            </a:r>
          </a:p>
          <a:p>
            <a:endParaRPr lang="en-US" dirty="0"/>
          </a:p>
          <a:p>
            <a:r>
              <a:rPr lang="en-US" dirty="0"/>
              <a:t>The key features of Terraform are:</a:t>
            </a:r>
          </a:p>
          <a:p>
            <a:r>
              <a:rPr lang="en-US" dirty="0">
                <a:hlinkClick r:id="rId2"/>
              </a:rPr>
              <a:t>»</a:t>
            </a:r>
            <a:r>
              <a:rPr lang="en-US" dirty="0"/>
              <a:t>Infrastructure as Code</a:t>
            </a:r>
          </a:p>
          <a:p>
            <a:r>
              <a:rPr lang="en-US" dirty="0"/>
              <a:t>	Infrastructure is described using a high-level configuration syntax. This allows a blueprint of your datacenter to be 	versioned and treated as you would any other code. Additionally, infrastructure can be shared and re-used.</a:t>
            </a:r>
          </a:p>
          <a:p>
            <a:r>
              <a:rPr lang="en-US" dirty="0">
                <a:hlinkClick r:id="rId3"/>
              </a:rPr>
              <a:t>»</a:t>
            </a:r>
            <a:r>
              <a:rPr lang="en-US" dirty="0"/>
              <a:t>Execution Plans</a:t>
            </a:r>
          </a:p>
          <a:p>
            <a:pPr lvl="1"/>
            <a:r>
              <a:rPr lang="en-US" dirty="0"/>
              <a:t>Terraform has a "planning" step where it generates an execution plan. The execution plan shows what Terraform will do when you call apply. This lets you avoid any surprises when Terraform manipulates infrastructure.</a:t>
            </a:r>
          </a:p>
          <a:p>
            <a:r>
              <a:rPr lang="en-US" dirty="0">
                <a:hlinkClick r:id="rId4"/>
              </a:rPr>
              <a:t>»</a:t>
            </a:r>
            <a:r>
              <a:rPr lang="en-US" dirty="0"/>
              <a:t>Resource Graph</a:t>
            </a:r>
          </a:p>
          <a:p>
            <a:pPr lvl="1"/>
            <a:r>
              <a:rPr lang="en-US" dirty="0"/>
              <a:t>Terraform builds a graph of all your resources, and parallelizes the creation and modification of any non-dependent resources. Because of this, Terraform builds infrastructure as efficiently as possible, and operators get insight into dependencies in their infrastructure.</a:t>
            </a:r>
          </a:p>
          <a:p>
            <a:r>
              <a:rPr lang="en-US" dirty="0">
                <a:hlinkClick r:id="rId5"/>
              </a:rPr>
              <a:t>»</a:t>
            </a:r>
            <a:r>
              <a:rPr lang="en-US" dirty="0"/>
              <a:t>Change Automation</a:t>
            </a:r>
          </a:p>
          <a:p>
            <a:pPr lvl="1"/>
            <a:r>
              <a:rPr lang="en-US" dirty="0"/>
              <a:t>Complex </a:t>
            </a:r>
            <a:r>
              <a:rPr lang="en-US" dirty="0" err="1"/>
              <a:t>changesets</a:t>
            </a:r>
            <a:r>
              <a:rPr lang="en-US" dirty="0"/>
              <a:t> can be applied to your infrastructure with minimal human interaction. With the previously mentioned execution plan and resource graph, you know exactly what Terraform will change and in what order, avoiding many possible human errors.</a:t>
            </a:r>
          </a:p>
          <a:p>
            <a:pPr lvl="1"/>
            <a:endParaRPr lang="en-US" dirty="0"/>
          </a:p>
          <a:p>
            <a:endParaRPr lang="en-US" dirty="0"/>
          </a:p>
        </p:txBody>
      </p:sp>
    </p:spTree>
    <p:extLst>
      <p:ext uri="{BB962C8B-B14F-4D97-AF65-F5344CB8AC3E}">
        <p14:creationId xmlns:p14="http://schemas.microsoft.com/office/powerpoint/2010/main" val="2571587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4503" y="101450"/>
            <a:ext cx="11717383" cy="72327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smtClean="0">
                <a:latin typeface="+mn-lt"/>
              </a:rPr>
              <a:t>Installation: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smtClean="0">
                <a:latin typeface="+mn-lt"/>
              </a:rPr>
              <a:t>Terraform </a:t>
            </a:r>
            <a:r>
              <a:rPr lang="en-US" altLang="en-US" sz="1600" dirty="0">
                <a:latin typeface="+mn-lt"/>
              </a:rPr>
              <a:t>is packaged as a zip archive.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mn-lt"/>
              </a:rPr>
              <a:t>After downloading Terraform, unzip the package. Terraform runs as a single binary named terraform. Any other files in the package can be safely removed and Terraform will still function.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mn-lt"/>
              </a:rPr>
              <a:t>The final step is to make sure that the terraform binary is available on the PATH.</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mn-lt"/>
              </a:rPr>
              <a:t>Setting </a:t>
            </a:r>
            <a:r>
              <a:rPr lang="en-US" altLang="en-US" sz="1600" dirty="0" err="1">
                <a:latin typeface="+mn-lt"/>
              </a:rPr>
              <a:t>env</a:t>
            </a:r>
            <a:r>
              <a:rPr lang="en-US" altLang="en-US" sz="1600" dirty="0">
                <a:latin typeface="+mn-lt"/>
              </a:rPr>
              <a:t> on windows :</a:t>
            </a:r>
          </a:p>
          <a:p>
            <a:pPr lvl="1"/>
            <a:r>
              <a:rPr lang="en-US" sz="1600" dirty="0" err="1">
                <a:latin typeface="+mn-lt"/>
              </a:rPr>
              <a:t>goto</a:t>
            </a:r>
            <a:r>
              <a:rPr lang="en-US" sz="1600" dirty="0">
                <a:latin typeface="+mn-lt"/>
              </a:rPr>
              <a:t> control </a:t>
            </a:r>
            <a:r>
              <a:rPr lang="en-US" sz="1600" b="1" dirty="0">
                <a:latin typeface="+mn-lt"/>
              </a:rPr>
              <a:t>panel -&gt; System -&gt; Advanced System settings* -&gt; Environment Variables -&gt; Scroll down in system variables until you find PATH </a:t>
            </a:r>
            <a:r>
              <a:rPr lang="en-US" sz="1600" dirty="0">
                <a:latin typeface="+mn-lt"/>
              </a:rPr>
              <a:t>click edit and change accordingly. BE SURE to include a semicolon at the end of the previous as that is the delimiter </a:t>
            </a:r>
            <a:r>
              <a:rPr lang="en-US" sz="1600" dirty="0" err="1">
                <a:latin typeface="+mn-lt"/>
              </a:rPr>
              <a:t>ie</a:t>
            </a:r>
            <a:r>
              <a:rPr lang="en-US" sz="1600" dirty="0">
                <a:latin typeface="+mn-lt"/>
              </a:rPr>
              <a:t> c:\path;c:\</a:t>
            </a:r>
            <a:r>
              <a:rPr lang="en-US" sz="1600" dirty="0" smtClean="0">
                <a:latin typeface="+mn-lt"/>
              </a:rPr>
              <a:t>path2;/d/terraform</a:t>
            </a:r>
            <a:endParaRPr lang="en-US" sz="1600" dirty="0">
              <a:latin typeface="+mn-lt"/>
            </a:endParaRPr>
          </a:p>
          <a:p>
            <a:pPr lvl="1"/>
            <a:r>
              <a:rPr lang="en-US" sz="1600" dirty="0">
                <a:latin typeface="+mn-lt"/>
              </a:rPr>
              <a:t>You will need to launch a new console for the settings to take effect.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mn-lt"/>
              </a:rPr>
              <a:t>Setting </a:t>
            </a:r>
            <a:r>
              <a:rPr lang="en-US" altLang="en-US" sz="1600" dirty="0" err="1">
                <a:latin typeface="+mn-lt"/>
              </a:rPr>
              <a:t>env</a:t>
            </a:r>
            <a:r>
              <a:rPr lang="en-US" altLang="en-US" sz="1600" dirty="0">
                <a:latin typeface="+mn-lt"/>
              </a:rPr>
              <a:t> on Linux :</a:t>
            </a:r>
          </a:p>
          <a:p>
            <a:pPr lvl="1"/>
            <a:r>
              <a:rPr lang="en-US" altLang="en-US" sz="1600" dirty="0">
                <a:latin typeface="+mn-lt"/>
              </a:rPr>
              <a:t>You need to add it to your ~/.profile or ~/.</a:t>
            </a:r>
            <a:r>
              <a:rPr lang="en-US" altLang="en-US" sz="1600" dirty="0" err="1">
                <a:latin typeface="+mn-lt"/>
              </a:rPr>
              <a:t>bashrc</a:t>
            </a:r>
            <a:r>
              <a:rPr lang="en-US" altLang="en-US" sz="1600" dirty="0">
                <a:latin typeface="+mn-lt"/>
              </a:rPr>
              <a:t> file.</a:t>
            </a:r>
          </a:p>
          <a:p>
            <a:pPr lvl="1"/>
            <a:r>
              <a:rPr lang="en-US" altLang="en-US" sz="1600" dirty="0" smtClean="0">
                <a:latin typeface="+mn-lt"/>
              </a:rPr>
              <a:t>	export </a:t>
            </a:r>
            <a:r>
              <a:rPr lang="en-US" altLang="en-US" sz="1600" dirty="0">
                <a:latin typeface="+mn-lt"/>
              </a:rPr>
              <a:t>PATH=$PATH:/path/to/</a:t>
            </a:r>
            <a:r>
              <a:rPr lang="en-US" altLang="en-US" sz="1600" dirty="0" err="1">
                <a:latin typeface="+mn-lt"/>
              </a:rPr>
              <a:t>dir</a:t>
            </a:r>
            <a:endParaRPr lang="en-US" altLang="en-US" sz="1600" dirty="0">
              <a:latin typeface="+mn-lt"/>
            </a:endParaRPr>
          </a:p>
          <a:p>
            <a:pPr lvl="1"/>
            <a:r>
              <a:rPr lang="en-US" altLang="en-US" sz="1600" dirty="0">
                <a:latin typeface="+mn-lt"/>
              </a:rPr>
              <a:t>Depending on what you're doing, you also may want to </a:t>
            </a:r>
            <a:r>
              <a:rPr lang="en-US" altLang="en-US" sz="1600" dirty="0" err="1">
                <a:latin typeface="+mn-lt"/>
              </a:rPr>
              <a:t>symlink</a:t>
            </a:r>
            <a:r>
              <a:rPr lang="en-US" altLang="en-US" sz="1600" dirty="0">
                <a:latin typeface="+mn-lt"/>
              </a:rPr>
              <a:t> to binaries:</a:t>
            </a:r>
          </a:p>
          <a:p>
            <a:pPr lvl="1"/>
            <a:r>
              <a:rPr lang="en-US" altLang="en-US" sz="1600" dirty="0" smtClean="0">
                <a:latin typeface="+mn-lt"/>
              </a:rPr>
              <a:t>	cd </a:t>
            </a:r>
            <a:r>
              <a:rPr lang="en-US" altLang="en-US" sz="1600" dirty="0">
                <a:latin typeface="+mn-lt"/>
              </a:rPr>
              <a:t>/</a:t>
            </a:r>
            <a:r>
              <a:rPr lang="en-US" altLang="en-US" sz="1600" dirty="0" err="1">
                <a:latin typeface="+mn-lt"/>
              </a:rPr>
              <a:t>usr</a:t>
            </a:r>
            <a:r>
              <a:rPr lang="en-US" altLang="en-US" sz="1600" dirty="0">
                <a:latin typeface="+mn-lt"/>
              </a:rPr>
              <a:t>/bin</a:t>
            </a:r>
          </a:p>
          <a:p>
            <a:pPr lvl="1"/>
            <a:r>
              <a:rPr lang="en-US" altLang="en-US" sz="1600" dirty="0" smtClean="0">
                <a:latin typeface="+mn-lt"/>
              </a:rPr>
              <a:t>	</a:t>
            </a:r>
            <a:r>
              <a:rPr lang="en-US" altLang="en-US" sz="1600" dirty="0" err="1" smtClean="0">
                <a:latin typeface="+mn-lt"/>
              </a:rPr>
              <a:t>sudo</a:t>
            </a:r>
            <a:r>
              <a:rPr lang="en-US" altLang="en-US" sz="1600" dirty="0" smtClean="0">
                <a:latin typeface="+mn-lt"/>
              </a:rPr>
              <a:t> </a:t>
            </a:r>
            <a:r>
              <a:rPr lang="en-US" altLang="en-US" sz="1600" dirty="0">
                <a:latin typeface="+mn-lt"/>
              </a:rPr>
              <a:t>ln -s /path/to/binary </a:t>
            </a:r>
            <a:r>
              <a:rPr lang="en-US" altLang="en-US" sz="1600" dirty="0" smtClean="0">
                <a:latin typeface="+mn-lt"/>
              </a:rPr>
              <a:t>binary-name</a:t>
            </a:r>
          </a:p>
          <a:p>
            <a:pPr lvl="1"/>
            <a:r>
              <a:rPr lang="en-US" altLang="en-US" sz="1600" b="1" dirty="0" smtClean="0">
                <a:latin typeface="+mn-lt"/>
              </a:rPr>
              <a:t>Verify </a:t>
            </a:r>
            <a:r>
              <a:rPr lang="en-US" altLang="en-US" sz="1600" b="1" dirty="0">
                <a:latin typeface="+mn-lt"/>
              </a:rPr>
              <a:t>Terraform installation : 	</a:t>
            </a:r>
            <a:endParaRPr lang="en-US" altLang="en-US" sz="1600" dirty="0">
              <a:latin typeface="+mn-lt"/>
            </a:endParaRPr>
          </a:p>
          <a:p>
            <a:pPr lvl="2"/>
            <a:r>
              <a:rPr lang="en-US" altLang="en-US" sz="1600" dirty="0">
                <a:latin typeface="+mn-lt"/>
              </a:rPr>
              <a:t>$ terraform</a:t>
            </a:r>
          </a:p>
          <a:p>
            <a:pPr lvl="2"/>
            <a:r>
              <a:rPr lang="en-US" altLang="en-US" sz="1600" dirty="0">
                <a:latin typeface="+mn-lt"/>
              </a:rPr>
              <a:t>Usage: terraform [--version] [--help] &lt;command&gt; [</a:t>
            </a:r>
            <a:r>
              <a:rPr lang="en-US" altLang="en-US" sz="1600" dirty="0" err="1">
                <a:latin typeface="+mn-lt"/>
              </a:rPr>
              <a:t>args</a:t>
            </a:r>
            <a:r>
              <a:rPr lang="en-US" altLang="en-US" sz="1600" dirty="0">
                <a:latin typeface="+mn-lt"/>
              </a:rPr>
              <a:t>]</a:t>
            </a:r>
            <a:endParaRPr lang="en-US" altLang="en-US" sz="1600" dirty="0" smtClean="0">
              <a:latin typeface="+mn-lt"/>
            </a:endParaRPr>
          </a:p>
          <a:p>
            <a:pPr lvl="1"/>
            <a:endParaRPr lang="en-US" altLang="en-US" sz="1600" b="1" dirty="0" smtClean="0">
              <a:latin typeface="+mn-lt"/>
            </a:endParaRPr>
          </a:p>
          <a:p>
            <a:pPr lvl="1"/>
            <a:r>
              <a:rPr lang="en-US" altLang="en-US" sz="1600" b="1" dirty="0" smtClean="0">
                <a:latin typeface="+mn-lt"/>
              </a:rPr>
              <a:t>Configuration:</a:t>
            </a:r>
          </a:p>
          <a:p>
            <a:pPr lvl="1"/>
            <a:endParaRPr lang="en-US" altLang="en-US" sz="1600" dirty="0">
              <a:latin typeface="+mn-lt"/>
            </a:endParaRPr>
          </a:p>
          <a:p>
            <a:pPr lvl="1"/>
            <a:r>
              <a:rPr lang="en-US" altLang="en-US" sz="1600" dirty="0">
                <a:latin typeface="+mn-lt"/>
              </a:rPr>
              <a:t>provider "</a:t>
            </a:r>
            <a:r>
              <a:rPr lang="en-US" altLang="en-US" sz="1600" dirty="0" err="1">
                <a:latin typeface="+mn-lt"/>
              </a:rPr>
              <a:t>aws</a:t>
            </a:r>
            <a:r>
              <a:rPr lang="en-US" altLang="en-US" sz="1600" dirty="0">
                <a:latin typeface="+mn-lt"/>
              </a:rPr>
              <a:t>" {</a:t>
            </a:r>
          </a:p>
          <a:p>
            <a:pPr lvl="1"/>
            <a:r>
              <a:rPr lang="en-US" altLang="en-US" sz="1600" dirty="0">
                <a:latin typeface="+mn-lt"/>
              </a:rPr>
              <a:t>  </a:t>
            </a:r>
            <a:r>
              <a:rPr lang="en-US" altLang="en-US" sz="1600" dirty="0" err="1">
                <a:latin typeface="+mn-lt"/>
              </a:rPr>
              <a:t>access_key</a:t>
            </a:r>
            <a:r>
              <a:rPr lang="en-US" altLang="en-US" sz="1600" dirty="0">
                <a:latin typeface="+mn-lt"/>
              </a:rPr>
              <a:t> = "ACCESS_KEY_HERE"</a:t>
            </a:r>
          </a:p>
          <a:p>
            <a:pPr lvl="1"/>
            <a:r>
              <a:rPr lang="en-US" altLang="en-US" sz="1600" dirty="0">
                <a:latin typeface="+mn-lt"/>
              </a:rPr>
              <a:t>  </a:t>
            </a:r>
            <a:r>
              <a:rPr lang="en-US" altLang="en-US" sz="1600" dirty="0" err="1">
                <a:latin typeface="+mn-lt"/>
              </a:rPr>
              <a:t>secret_key</a:t>
            </a:r>
            <a:r>
              <a:rPr lang="en-US" altLang="en-US" sz="1600" dirty="0">
                <a:latin typeface="+mn-lt"/>
              </a:rPr>
              <a:t> = "SECRET_KEY_HERE"</a:t>
            </a:r>
          </a:p>
          <a:p>
            <a:pPr lvl="1"/>
            <a:r>
              <a:rPr lang="en-US" altLang="en-US" sz="1600" dirty="0">
                <a:latin typeface="+mn-lt"/>
              </a:rPr>
              <a:t>  region     = "us-east-1"</a:t>
            </a:r>
          </a:p>
          <a:p>
            <a:pPr lvl="1"/>
            <a:r>
              <a:rPr lang="en-US" altLang="en-US" sz="1600" dirty="0" smtClean="0">
                <a:latin typeface="+mn-lt"/>
              </a:rPr>
              <a:t>}</a:t>
            </a:r>
            <a:endParaRPr kumimoji="0" lang="en-US" altLang="en-US" sz="1600" b="0" i="0" u="none" strike="noStrike" cap="none" normalizeH="0" baseline="0" dirty="0" smtClean="0">
              <a:ln>
                <a:noFill/>
              </a:ln>
              <a:solidFill>
                <a:schemeClr val="tx1"/>
              </a:solidFill>
              <a:effectLst/>
            </a:endParaRPr>
          </a:p>
        </p:txBody>
      </p:sp>
      <p:pic>
        <p:nvPicPr>
          <p:cNvPr id="10" name="Picture 9"/>
          <p:cNvPicPr>
            <a:picLocks noChangeAspect="1"/>
          </p:cNvPicPr>
          <p:nvPr/>
        </p:nvPicPr>
        <p:blipFill>
          <a:blip r:embed="rId2"/>
          <a:stretch>
            <a:fillRect/>
          </a:stretch>
        </p:blipFill>
        <p:spPr>
          <a:xfrm>
            <a:off x="3644537" y="5505673"/>
            <a:ext cx="8306605" cy="1691961"/>
          </a:xfrm>
          <a:prstGeom prst="rect">
            <a:avLst/>
          </a:prstGeom>
        </p:spPr>
      </p:pic>
    </p:spTree>
    <p:extLst>
      <p:ext uri="{BB962C8B-B14F-4D97-AF65-F5344CB8AC3E}">
        <p14:creationId xmlns:p14="http://schemas.microsoft.com/office/powerpoint/2010/main" val="3664789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0"/>
            <a:ext cx="12057016" cy="7355860"/>
          </a:xfrm>
          <a:prstGeom prst="rect">
            <a:avLst/>
          </a:prstGeom>
        </p:spPr>
        <p:txBody>
          <a:bodyPr wrap="square">
            <a:spAutoFit/>
          </a:bodyPr>
          <a:lstStyle/>
          <a:p>
            <a:pPr fontAlgn="ctr"/>
            <a:r>
              <a:rPr lang="en-US" dirty="0">
                <a:hlinkClick r:id="rId2"/>
              </a:rPr>
              <a:t>https://github.com/hashicorp/terraform</a:t>
            </a:r>
            <a:r>
              <a:rPr lang="en-US" dirty="0"/>
              <a:t>    </a:t>
            </a:r>
            <a:r>
              <a:rPr lang="en-US" dirty="0">
                <a:sym typeface="Wingdings" panose="05000000000000000000" pitchFamily="2" charset="2"/>
              </a:rPr>
              <a:t> Open issue / closed </a:t>
            </a:r>
            <a:endParaRPr lang="en-US" dirty="0"/>
          </a:p>
          <a:p>
            <a:pPr fontAlgn="ctr"/>
            <a:r>
              <a:rPr lang="en-US" dirty="0">
                <a:hlinkClick r:id="rId3"/>
              </a:rPr>
              <a:t>https://www.hashicorp.com/blog/category/terraform</a:t>
            </a:r>
            <a:r>
              <a:rPr lang="en-US" dirty="0"/>
              <a:t> --&gt; Posted Blogs </a:t>
            </a:r>
          </a:p>
          <a:p>
            <a:pPr fontAlgn="ctr"/>
            <a:r>
              <a:rPr lang="en-US" dirty="0">
                <a:hlinkClick r:id="rId4"/>
              </a:rPr>
              <a:t>https://www.hashicorp.com/blog/terraform-announcement</a:t>
            </a:r>
            <a:r>
              <a:rPr lang="en-US" dirty="0"/>
              <a:t> TF announce</a:t>
            </a:r>
          </a:p>
          <a:p>
            <a:pPr fontAlgn="ctr"/>
            <a:r>
              <a:rPr lang="en-US" dirty="0">
                <a:hlinkClick r:id="rId5"/>
              </a:rPr>
              <a:t>https://www.terraform.io/downloads.html</a:t>
            </a:r>
            <a:r>
              <a:rPr lang="en-US" dirty="0"/>
              <a:t>  </a:t>
            </a:r>
            <a:r>
              <a:rPr lang="en-US" dirty="0">
                <a:sym typeface="Wingdings" panose="05000000000000000000" pitchFamily="2" charset="2"/>
              </a:rPr>
              <a:t> TF documentation </a:t>
            </a:r>
            <a:r>
              <a:rPr lang="en-US" dirty="0">
                <a:hlinkClick r:id="rId5"/>
              </a:rPr>
              <a:t>https://www.terraform.io/downloads.html</a:t>
            </a:r>
            <a:r>
              <a:rPr lang="en-US" dirty="0"/>
              <a:t> - New version download </a:t>
            </a:r>
            <a:r>
              <a:rPr lang="en-US" dirty="0">
                <a:hlinkClick r:id="rId6"/>
              </a:rPr>
              <a:t>https://releases.hashicorp.com/terraform/</a:t>
            </a:r>
            <a:r>
              <a:rPr lang="en-US" dirty="0"/>
              <a:t> - Older version download </a:t>
            </a:r>
          </a:p>
          <a:p>
            <a:r>
              <a:rPr lang="en-US" dirty="0"/>
              <a:t/>
            </a:r>
            <a:br>
              <a:rPr lang="en-US" dirty="0"/>
            </a:br>
            <a:r>
              <a:rPr lang="en-US" dirty="0"/>
              <a:t>Configuration Syntax</a:t>
            </a:r>
          </a:p>
          <a:p>
            <a:r>
              <a:rPr lang="en-US" dirty="0"/>
              <a:t>The syntax of Terraform configurations is called </a:t>
            </a:r>
            <a:r>
              <a:rPr lang="en-US" dirty="0" err="1">
                <a:hlinkClick r:id="rId7"/>
              </a:rPr>
              <a:t>HashiCorp</a:t>
            </a:r>
            <a:r>
              <a:rPr lang="en-US" dirty="0">
                <a:hlinkClick r:id="rId7"/>
              </a:rPr>
              <a:t> Configuration Language (HCL)</a:t>
            </a:r>
            <a:r>
              <a:rPr lang="en-US" dirty="0"/>
              <a:t>. It is meant to strike a balance between human readable and editable as well as being machine-friendly. For machine-friendliness, Terraform can also read JSON configurations. </a:t>
            </a:r>
          </a:p>
          <a:p>
            <a:r>
              <a:rPr lang="en-US" b="1" dirty="0" smtClean="0"/>
              <a:t>Sample Example </a:t>
            </a:r>
          </a:p>
          <a:p>
            <a:pPr lvl="1"/>
            <a:endParaRPr lang="en-US" sz="1400" b="1" dirty="0"/>
          </a:p>
          <a:p>
            <a:pPr lvl="1"/>
            <a:r>
              <a:rPr lang="en-US" sz="1400" dirty="0"/>
              <a:t># An AMI</a:t>
            </a:r>
          </a:p>
          <a:p>
            <a:pPr lvl="1"/>
            <a:r>
              <a:rPr lang="en-US" sz="1400" dirty="0"/>
              <a:t>variable "</a:t>
            </a:r>
            <a:r>
              <a:rPr lang="en-US" sz="1400" dirty="0" err="1"/>
              <a:t>ami</a:t>
            </a:r>
            <a:r>
              <a:rPr lang="en-US" sz="1400" dirty="0"/>
              <a:t>" {</a:t>
            </a:r>
          </a:p>
          <a:p>
            <a:pPr lvl="1"/>
            <a:r>
              <a:rPr lang="en-US" sz="1400" dirty="0"/>
              <a:t>  description = "the AMI to use"</a:t>
            </a:r>
          </a:p>
          <a:p>
            <a:pPr lvl="1"/>
            <a:r>
              <a:rPr lang="en-US" sz="1400" dirty="0"/>
              <a:t>}</a:t>
            </a:r>
          </a:p>
          <a:p>
            <a:pPr lvl="1"/>
            <a:endParaRPr lang="en-US" sz="1400" dirty="0"/>
          </a:p>
          <a:p>
            <a:pPr lvl="1"/>
            <a:r>
              <a:rPr lang="en-US" sz="1400" dirty="0"/>
              <a:t>/* A multi</a:t>
            </a:r>
          </a:p>
          <a:p>
            <a:pPr lvl="1"/>
            <a:r>
              <a:rPr lang="en-US" sz="1400" dirty="0"/>
              <a:t>   line comment. */</a:t>
            </a:r>
          </a:p>
          <a:p>
            <a:pPr lvl="1"/>
            <a:r>
              <a:rPr lang="en-US" sz="1400" dirty="0"/>
              <a:t>resource "</a:t>
            </a:r>
            <a:r>
              <a:rPr lang="en-US" sz="1400" dirty="0" err="1"/>
              <a:t>aws_instance</a:t>
            </a:r>
            <a:r>
              <a:rPr lang="en-US" sz="1400" dirty="0"/>
              <a:t>" "web" {</a:t>
            </a:r>
          </a:p>
          <a:p>
            <a:pPr lvl="1"/>
            <a:r>
              <a:rPr lang="en-US" sz="1400" dirty="0"/>
              <a:t>  </a:t>
            </a:r>
            <a:r>
              <a:rPr lang="en-US" sz="1400" dirty="0" err="1"/>
              <a:t>ami</a:t>
            </a:r>
            <a:r>
              <a:rPr lang="en-US" sz="1400" dirty="0"/>
              <a:t>               = "${</a:t>
            </a:r>
            <a:r>
              <a:rPr lang="en-US" sz="1400" dirty="0" err="1"/>
              <a:t>var.ami</a:t>
            </a:r>
            <a:r>
              <a:rPr lang="en-US" sz="1400" dirty="0"/>
              <a:t>}"</a:t>
            </a:r>
          </a:p>
          <a:p>
            <a:pPr lvl="1"/>
            <a:r>
              <a:rPr lang="en-US" sz="1400" dirty="0"/>
              <a:t>  count             = 2</a:t>
            </a:r>
          </a:p>
          <a:p>
            <a:pPr lvl="1"/>
            <a:r>
              <a:rPr lang="en-US" sz="1400" dirty="0"/>
              <a:t>  </a:t>
            </a:r>
            <a:r>
              <a:rPr lang="en-US" sz="1400" dirty="0" err="1"/>
              <a:t>source_dest_check</a:t>
            </a:r>
            <a:r>
              <a:rPr lang="en-US" sz="1400" dirty="0"/>
              <a:t> = false</a:t>
            </a:r>
          </a:p>
          <a:p>
            <a:pPr lvl="1"/>
            <a:endParaRPr lang="en-US" sz="1400" dirty="0"/>
          </a:p>
          <a:p>
            <a:pPr lvl="1"/>
            <a:r>
              <a:rPr lang="en-US" sz="1400" dirty="0"/>
              <a:t>  connection {</a:t>
            </a:r>
          </a:p>
          <a:p>
            <a:pPr lvl="1"/>
            <a:r>
              <a:rPr lang="en-US" sz="1400" dirty="0"/>
              <a:t>    user = "root"</a:t>
            </a:r>
          </a:p>
          <a:p>
            <a:pPr lvl="1"/>
            <a:r>
              <a:rPr lang="en-US" sz="1400" dirty="0"/>
              <a:t>  }</a:t>
            </a:r>
          </a:p>
          <a:p>
            <a:pPr lvl="1"/>
            <a:r>
              <a:rPr lang="en-US" sz="1400" dirty="0"/>
              <a:t>}</a:t>
            </a:r>
            <a:br>
              <a:rPr lang="en-US" sz="1400" dirty="0"/>
            </a:br>
            <a:r>
              <a:rPr lang="en-US" dirty="0">
                <a:solidFill>
                  <a:srgbClr val="545454"/>
                </a:solidFill>
                <a:latin typeface="arial" panose="020B0604020202020204" pitchFamily="34" charset="0"/>
              </a:rPr>
              <a:t/>
            </a:r>
            <a:br>
              <a:rPr lang="en-US" dirty="0">
                <a:solidFill>
                  <a:srgbClr val="545454"/>
                </a:solidFill>
                <a:latin typeface="arial" panose="020B0604020202020204" pitchFamily="34" charset="0"/>
              </a:rPr>
            </a:br>
            <a:endParaRPr lang="en-US" dirty="0"/>
          </a:p>
        </p:txBody>
      </p:sp>
    </p:spTree>
    <p:extLst>
      <p:ext uri="{BB962C8B-B14F-4D97-AF65-F5344CB8AC3E}">
        <p14:creationId xmlns:p14="http://schemas.microsoft.com/office/powerpoint/2010/main" val="325269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06570"/>
            <a:ext cx="10816046" cy="584775"/>
          </a:xfrm>
          <a:prstGeom prst="rect">
            <a:avLst/>
          </a:prstGeom>
        </p:spPr>
        <p:txBody>
          <a:bodyPr wrap="square">
            <a:spAutoFit/>
          </a:bodyPr>
          <a:lstStyle/>
          <a:p>
            <a:r>
              <a:rPr lang="en-US" sz="1600" dirty="0"/>
              <a:t>To get help for any specific command, pass the -h flag to the relevant subcommand. For example, to see help about the graph subcommand:</a:t>
            </a:r>
          </a:p>
        </p:txBody>
      </p:sp>
      <p:pic>
        <p:nvPicPr>
          <p:cNvPr id="8" name="Picture 7"/>
          <p:cNvPicPr>
            <a:picLocks noChangeAspect="1"/>
          </p:cNvPicPr>
          <p:nvPr/>
        </p:nvPicPr>
        <p:blipFill>
          <a:blip r:embed="rId2"/>
          <a:stretch>
            <a:fillRect/>
          </a:stretch>
        </p:blipFill>
        <p:spPr>
          <a:xfrm>
            <a:off x="155937" y="752901"/>
            <a:ext cx="9275445" cy="6180060"/>
          </a:xfrm>
          <a:prstGeom prst="rect">
            <a:avLst/>
          </a:prstGeom>
        </p:spPr>
      </p:pic>
    </p:spTree>
    <p:extLst>
      <p:ext uri="{BB962C8B-B14F-4D97-AF65-F5344CB8AC3E}">
        <p14:creationId xmlns:p14="http://schemas.microsoft.com/office/powerpoint/2010/main" val="913216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1991" y="169954"/>
            <a:ext cx="8318480" cy="6100218"/>
          </a:xfrm>
          <a:prstGeom prst="rect">
            <a:avLst/>
          </a:prstGeom>
        </p:spPr>
      </p:pic>
      <p:sp>
        <p:nvSpPr>
          <p:cNvPr id="6" name="Rectangle 5"/>
          <p:cNvSpPr/>
          <p:nvPr/>
        </p:nvSpPr>
        <p:spPr>
          <a:xfrm>
            <a:off x="287493" y="6270171"/>
            <a:ext cx="11038003" cy="646331"/>
          </a:xfrm>
          <a:prstGeom prst="rect">
            <a:avLst/>
          </a:prstGeom>
        </p:spPr>
        <p:txBody>
          <a:bodyPr wrap="square">
            <a:spAutoFit/>
          </a:bodyPr>
          <a:lstStyle/>
          <a:p>
            <a:r>
              <a:rPr lang="en-US" b="1" dirty="0">
                <a:hlinkClick r:id="rId3"/>
              </a:rPr>
              <a:t>https://www.terraform.io/docs/providers/aws</a:t>
            </a:r>
            <a:r>
              <a:rPr lang="en-US" b="1" dirty="0" smtClean="0">
                <a:hlinkClick r:id="rId3"/>
              </a:rPr>
              <a:t>/</a:t>
            </a:r>
            <a:endParaRPr lang="en-US" b="1" dirty="0" smtClean="0"/>
          </a:p>
          <a:p>
            <a:r>
              <a:rPr lang="en-US" b="1" dirty="0">
                <a:hlinkClick r:id="rId4"/>
              </a:rPr>
              <a:t>https://</a:t>
            </a:r>
            <a:r>
              <a:rPr lang="en-US" b="1" dirty="0" smtClean="0">
                <a:hlinkClick r:id="rId4"/>
              </a:rPr>
              <a:t>github.com/terraform-aws-modules/terraform-aws-ec2-instance/blob/master/examples/basic/main.tf</a:t>
            </a:r>
            <a:r>
              <a:rPr lang="en-US" b="1" dirty="0" smtClean="0"/>
              <a:t> </a:t>
            </a:r>
            <a:endParaRPr lang="en-US" b="1" dirty="0"/>
          </a:p>
        </p:txBody>
      </p:sp>
    </p:spTree>
    <p:extLst>
      <p:ext uri="{BB962C8B-B14F-4D97-AF65-F5344CB8AC3E}">
        <p14:creationId xmlns:p14="http://schemas.microsoft.com/office/powerpoint/2010/main" val="32772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994" y="114390"/>
            <a:ext cx="11924212" cy="6652169"/>
          </a:xfrm>
        </p:spPr>
        <p:txBody>
          <a:bodyPr>
            <a:normAutofit/>
          </a:bodyPr>
          <a:lstStyle/>
          <a:p>
            <a:pPr marL="0" indent="0" algn="ctr">
              <a:buNone/>
            </a:pPr>
            <a:r>
              <a:rPr lang="en-US" sz="2000" dirty="0" smtClean="0"/>
              <a:t>AWS code Build</a:t>
            </a:r>
          </a:p>
          <a:p>
            <a:pPr marL="0" indent="0">
              <a:buNone/>
            </a:pPr>
            <a:r>
              <a:rPr lang="en-US" sz="2000" dirty="0">
                <a:latin typeface="+mj-lt"/>
              </a:rPr>
              <a:t>AWS </a:t>
            </a:r>
            <a:r>
              <a:rPr lang="en-US" sz="2000" dirty="0" err="1">
                <a:latin typeface="+mj-lt"/>
              </a:rPr>
              <a:t>CodeBuild</a:t>
            </a:r>
            <a:r>
              <a:rPr lang="en-US" sz="2000" dirty="0">
                <a:latin typeface="+mj-lt"/>
              </a:rPr>
              <a:t> is a fully managed build service that compiles source code, runs tests, and produces software packages that are ready to deploy. With </a:t>
            </a:r>
            <a:r>
              <a:rPr lang="en-US" sz="2000" dirty="0" err="1">
                <a:latin typeface="+mj-lt"/>
              </a:rPr>
              <a:t>CodeBuild</a:t>
            </a:r>
            <a:r>
              <a:rPr lang="en-US" sz="2000" dirty="0">
                <a:latin typeface="+mj-lt"/>
              </a:rPr>
              <a:t>, you don’t need to provision, manage, and scale your own build servers. </a:t>
            </a:r>
            <a:r>
              <a:rPr lang="en-US" sz="2000" dirty="0" err="1">
                <a:latin typeface="+mj-lt"/>
              </a:rPr>
              <a:t>CodeBuild</a:t>
            </a:r>
            <a:r>
              <a:rPr lang="en-US" sz="2000" dirty="0">
                <a:latin typeface="+mj-lt"/>
              </a:rPr>
              <a:t> scales continuously and processes multiple builds concurrently, so your builds are not left waiting in a queue. You can get started quickly by using prepackaged build environments, or you can create custom build environments that use your own build tools. </a:t>
            </a:r>
          </a:p>
          <a:p>
            <a:pPr lvl="1"/>
            <a:r>
              <a:rPr lang="en-US" sz="2000" dirty="0">
                <a:latin typeface="+mj-lt"/>
              </a:rPr>
              <a:t>Pay as You Go</a:t>
            </a:r>
          </a:p>
          <a:p>
            <a:pPr lvl="2"/>
            <a:r>
              <a:rPr lang="en-US" dirty="0">
                <a:latin typeface="+mj-lt"/>
              </a:rPr>
              <a:t>With AWS </a:t>
            </a:r>
            <a:r>
              <a:rPr lang="en-US" dirty="0" err="1">
                <a:latin typeface="+mj-lt"/>
              </a:rPr>
              <a:t>CodeBuild</a:t>
            </a:r>
            <a:r>
              <a:rPr lang="en-US" dirty="0">
                <a:latin typeface="+mj-lt"/>
              </a:rPr>
              <a:t>, you are charged based on the number of minutes it takes to complete your build. This means you no longer have to worry about paying for idle build server capacity.</a:t>
            </a:r>
          </a:p>
          <a:p>
            <a:pPr lvl="1"/>
            <a:r>
              <a:rPr lang="en-US" sz="2000" dirty="0">
                <a:latin typeface="+mj-lt"/>
              </a:rPr>
              <a:t>Secure</a:t>
            </a:r>
          </a:p>
          <a:p>
            <a:pPr lvl="2"/>
            <a:r>
              <a:rPr lang="en-US" dirty="0">
                <a:latin typeface="+mj-lt"/>
              </a:rPr>
              <a:t>With AWS </a:t>
            </a:r>
            <a:r>
              <a:rPr lang="en-US" dirty="0" err="1">
                <a:latin typeface="+mj-lt"/>
              </a:rPr>
              <a:t>CodeBuild</a:t>
            </a:r>
            <a:r>
              <a:rPr lang="en-US" dirty="0">
                <a:latin typeface="+mj-lt"/>
              </a:rPr>
              <a:t>, your build artifacts are encrypted with customer-specific keys that are managed by the </a:t>
            </a:r>
            <a:r>
              <a:rPr lang="en-US" dirty="0">
                <a:latin typeface="+mj-lt"/>
                <a:hlinkClick r:id="rId2"/>
              </a:rPr>
              <a:t>AWS Key Management Service</a:t>
            </a:r>
            <a:r>
              <a:rPr lang="en-US" dirty="0">
                <a:latin typeface="+mj-lt"/>
              </a:rPr>
              <a:t> (KMS). </a:t>
            </a:r>
            <a:r>
              <a:rPr lang="en-US" dirty="0" err="1">
                <a:latin typeface="+mj-lt"/>
              </a:rPr>
              <a:t>CodeBuild</a:t>
            </a:r>
            <a:r>
              <a:rPr lang="en-US" dirty="0">
                <a:latin typeface="+mj-lt"/>
              </a:rPr>
              <a:t> is integrated with </a:t>
            </a:r>
            <a:r>
              <a:rPr lang="en-US" dirty="0">
                <a:latin typeface="+mj-lt"/>
                <a:hlinkClick r:id="rId3"/>
              </a:rPr>
              <a:t>AWS Identity and Access Management</a:t>
            </a:r>
            <a:r>
              <a:rPr lang="en-US" dirty="0">
                <a:latin typeface="+mj-lt"/>
              </a:rPr>
              <a:t>(IAM), so you can assign user-specific permissions to your build projects.</a:t>
            </a:r>
          </a:p>
          <a:p>
            <a:pPr lvl="1"/>
            <a:r>
              <a:rPr lang="en-US" sz="2000" dirty="0">
                <a:latin typeface="+mj-lt"/>
              </a:rPr>
              <a:t>Continuous Scaling</a:t>
            </a:r>
          </a:p>
          <a:p>
            <a:pPr lvl="2"/>
            <a:r>
              <a:rPr lang="en-US" dirty="0">
                <a:latin typeface="+mj-lt"/>
              </a:rPr>
              <a:t>AWS </a:t>
            </a:r>
            <a:r>
              <a:rPr lang="en-US" dirty="0" err="1">
                <a:latin typeface="+mj-lt"/>
              </a:rPr>
              <a:t>CodeBuild</a:t>
            </a:r>
            <a:r>
              <a:rPr lang="en-US" dirty="0">
                <a:latin typeface="+mj-lt"/>
              </a:rPr>
              <a:t> scales automatically to meet your build volume. It immediately processes each build you submit and </a:t>
            </a:r>
            <a:r>
              <a:rPr lang="en-US" b="1" dirty="0">
                <a:latin typeface="+mj-lt"/>
              </a:rPr>
              <a:t>can run separate builds concurrently</a:t>
            </a:r>
            <a:r>
              <a:rPr lang="en-US" dirty="0">
                <a:latin typeface="+mj-lt"/>
              </a:rPr>
              <a:t>, which means your builds </a:t>
            </a:r>
            <a:r>
              <a:rPr lang="en-US" b="1" dirty="0">
                <a:latin typeface="+mj-lt"/>
              </a:rPr>
              <a:t>are not left waiting </a:t>
            </a:r>
            <a:r>
              <a:rPr lang="en-US" dirty="0">
                <a:latin typeface="+mj-lt"/>
              </a:rPr>
              <a:t>in a queue.</a:t>
            </a:r>
          </a:p>
          <a:p>
            <a:pPr lvl="1"/>
            <a:r>
              <a:rPr lang="en-US" sz="2000" dirty="0">
                <a:latin typeface="+mj-lt"/>
              </a:rPr>
              <a:t>Fully Managed Build Service</a:t>
            </a:r>
          </a:p>
          <a:p>
            <a:pPr lvl="2"/>
            <a:r>
              <a:rPr lang="en-US" dirty="0">
                <a:latin typeface="+mj-lt"/>
              </a:rPr>
              <a:t>AWS </a:t>
            </a:r>
            <a:r>
              <a:rPr lang="en-US" dirty="0" err="1">
                <a:latin typeface="+mj-lt"/>
              </a:rPr>
              <a:t>CodeBuild</a:t>
            </a:r>
            <a:r>
              <a:rPr lang="en-US" dirty="0">
                <a:latin typeface="+mj-lt"/>
              </a:rPr>
              <a:t> eliminates the need to set up, patch, update, and manage your own build servers and software. There is no software to install or manage.</a:t>
            </a:r>
          </a:p>
          <a:p>
            <a:pPr lvl="2"/>
            <a:endParaRPr lang="en-US" dirty="0"/>
          </a:p>
          <a:p>
            <a:pPr lvl="1"/>
            <a:endParaRPr lang="en-US" sz="2000" dirty="0"/>
          </a:p>
          <a:p>
            <a:pPr lvl="1"/>
            <a:endParaRPr lang="en-US" sz="2000" dirty="0" smtClean="0"/>
          </a:p>
          <a:p>
            <a:pPr marL="914400" lvl="2" indent="0">
              <a:buNone/>
            </a:pPr>
            <a:endParaRPr lang="en-US" dirty="0"/>
          </a:p>
          <a:p>
            <a:pPr marL="0" indent="0">
              <a:buNone/>
            </a:pPr>
            <a:endParaRPr lang="en-US" sz="2000" dirty="0"/>
          </a:p>
        </p:txBody>
      </p:sp>
    </p:spTree>
    <p:extLst>
      <p:ext uri="{BB962C8B-B14F-4D97-AF65-F5344CB8AC3E}">
        <p14:creationId xmlns:p14="http://schemas.microsoft.com/office/powerpoint/2010/main" val="505293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638924" y="1003743"/>
            <a:ext cx="5791649" cy="5135800"/>
          </a:xfrm>
          <a:prstGeom prst="rect">
            <a:avLst/>
          </a:prstGeom>
        </p:spPr>
      </p:pic>
      <p:pic>
        <p:nvPicPr>
          <p:cNvPr id="1026" name="Picture 2" descr="https://docs.aws.amazon.com/codebuild/latest/userguide/images/over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505" y="1003743"/>
            <a:ext cx="6075409" cy="328786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35505" y="215231"/>
            <a:ext cx="10284598" cy="646331"/>
          </a:xfrm>
          <a:prstGeom prst="rect">
            <a:avLst/>
          </a:prstGeom>
        </p:spPr>
        <p:txBody>
          <a:bodyPr wrap="square">
            <a:spAutoFit/>
          </a:bodyPr>
          <a:lstStyle/>
          <a:p>
            <a:r>
              <a:rPr lang="en-US" b="1" dirty="0">
                <a:solidFill>
                  <a:srgbClr val="CC6600"/>
                </a:solidFill>
                <a:latin typeface="Open Sans"/>
              </a:rPr>
              <a:t>Run AWS </a:t>
            </a:r>
            <a:r>
              <a:rPr lang="en-US" b="1" dirty="0" err="1" smtClean="0">
                <a:solidFill>
                  <a:srgbClr val="CC6600"/>
                </a:solidFill>
                <a:latin typeface="Open Sans"/>
              </a:rPr>
              <a:t>CodeBuild</a:t>
            </a:r>
            <a:r>
              <a:rPr lang="en-US" b="1" dirty="0" smtClean="0">
                <a:solidFill>
                  <a:srgbClr val="CC6600"/>
                </a:solidFill>
                <a:latin typeface="Open Sans"/>
              </a:rPr>
              <a:t>: </a:t>
            </a:r>
          </a:p>
          <a:p>
            <a:r>
              <a:rPr lang="en-US" dirty="0" smtClean="0"/>
              <a:t>	To </a:t>
            </a:r>
            <a:r>
              <a:rPr lang="en-US" dirty="0"/>
              <a:t>run AWS </a:t>
            </a:r>
            <a:r>
              <a:rPr lang="en-US" dirty="0" err="1"/>
              <a:t>CodeBuild</a:t>
            </a:r>
            <a:r>
              <a:rPr lang="en-US" dirty="0"/>
              <a:t> by using the AWS </a:t>
            </a:r>
            <a:r>
              <a:rPr lang="en-US" dirty="0" err="1"/>
              <a:t>CodeBuild</a:t>
            </a:r>
            <a:r>
              <a:rPr lang="en-US" dirty="0"/>
              <a:t> console, AWS CLI, AWS SDKs,</a:t>
            </a:r>
            <a:endParaRPr lang="en-US" b="1" i="0" dirty="0">
              <a:solidFill>
                <a:srgbClr val="CC6600"/>
              </a:solidFill>
              <a:effectLst/>
              <a:latin typeface="Open Sans"/>
            </a:endParaRPr>
          </a:p>
        </p:txBody>
      </p:sp>
    </p:spTree>
    <p:extLst>
      <p:ext uri="{BB962C8B-B14F-4D97-AF65-F5344CB8AC3E}">
        <p14:creationId xmlns:p14="http://schemas.microsoft.com/office/powerpoint/2010/main" val="14318462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423" y="192485"/>
            <a:ext cx="10798628" cy="3139321"/>
          </a:xfrm>
          <a:prstGeom prst="rect">
            <a:avLst/>
          </a:prstGeom>
        </p:spPr>
        <p:txBody>
          <a:bodyPr wrap="square">
            <a:spAutoFit/>
          </a:bodyPr>
          <a:lstStyle/>
          <a:p>
            <a:r>
              <a:rPr lang="en-US" sz="2200" dirty="0"/>
              <a:t>Step 1: </a:t>
            </a:r>
            <a:r>
              <a:rPr lang="en-US" sz="2200" dirty="0" smtClean="0"/>
              <a:t>	Create </a:t>
            </a:r>
            <a:r>
              <a:rPr lang="en-US" sz="2200" dirty="0"/>
              <a:t>or Use Amazon S3 Buckets to Store the Build Input and Output</a:t>
            </a:r>
          </a:p>
          <a:p>
            <a:r>
              <a:rPr lang="en-US" sz="2200" dirty="0"/>
              <a:t>Step 2: </a:t>
            </a:r>
            <a:r>
              <a:rPr lang="en-US" sz="2200" dirty="0" smtClean="0"/>
              <a:t>	Create </a:t>
            </a:r>
            <a:r>
              <a:rPr lang="en-US" sz="2200" dirty="0"/>
              <a:t>the Source Code to Build</a:t>
            </a:r>
          </a:p>
          <a:p>
            <a:r>
              <a:rPr lang="en-US" sz="2200" dirty="0"/>
              <a:t>Step 3: </a:t>
            </a:r>
            <a:r>
              <a:rPr lang="en-US" sz="2200" dirty="0" smtClean="0"/>
              <a:t>	Create </a:t>
            </a:r>
            <a:r>
              <a:rPr lang="en-US" sz="2200" dirty="0"/>
              <a:t>the Build Spec</a:t>
            </a:r>
          </a:p>
          <a:p>
            <a:r>
              <a:rPr lang="en-US" sz="2200" dirty="0"/>
              <a:t>Step 4: </a:t>
            </a:r>
            <a:r>
              <a:rPr lang="en-US" sz="2200" dirty="0" smtClean="0"/>
              <a:t>	Add </a:t>
            </a:r>
            <a:r>
              <a:rPr lang="en-US" sz="2200" dirty="0"/>
              <a:t>the Source Code and the Build Spec to the Input Bucket</a:t>
            </a:r>
          </a:p>
          <a:p>
            <a:r>
              <a:rPr lang="en-US" sz="2200" dirty="0"/>
              <a:t>Step 5: </a:t>
            </a:r>
            <a:r>
              <a:rPr lang="en-US" sz="2200" dirty="0" smtClean="0"/>
              <a:t>	Create </a:t>
            </a:r>
            <a:r>
              <a:rPr lang="en-US" sz="2200" dirty="0"/>
              <a:t>the Build Project</a:t>
            </a:r>
          </a:p>
          <a:p>
            <a:r>
              <a:rPr lang="en-US" sz="2200" dirty="0"/>
              <a:t>Step 6: </a:t>
            </a:r>
            <a:r>
              <a:rPr lang="en-US" sz="2200" dirty="0" smtClean="0"/>
              <a:t>	Run </a:t>
            </a:r>
            <a:r>
              <a:rPr lang="en-US" sz="2200" dirty="0"/>
              <a:t>the Build</a:t>
            </a:r>
          </a:p>
          <a:p>
            <a:r>
              <a:rPr lang="en-US" sz="2200" dirty="0"/>
              <a:t>Step 7: </a:t>
            </a:r>
            <a:r>
              <a:rPr lang="en-US" sz="2200" dirty="0" smtClean="0"/>
              <a:t>	View </a:t>
            </a:r>
            <a:r>
              <a:rPr lang="en-US" sz="2200" dirty="0"/>
              <a:t>Summarized Build Information</a:t>
            </a:r>
          </a:p>
          <a:p>
            <a:r>
              <a:rPr lang="en-US" sz="2200" dirty="0"/>
              <a:t>Step 8: </a:t>
            </a:r>
            <a:r>
              <a:rPr lang="en-US" sz="2200" dirty="0" smtClean="0"/>
              <a:t>	View </a:t>
            </a:r>
            <a:r>
              <a:rPr lang="en-US" sz="2200" dirty="0"/>
              <a:t>Detailed Build Information</a:t>
            </a:r>
          </a:p>
          <a:p>
            <a:r>
              <a:rPr lang="en-US" sz="2200" dirty="0"/>
              <a:t>Step 9: </a:t>
            </a:r>
            <a:r>
              <a:rPr lang="en-US" sz="2200" dirty="0" smtClean="0"/>
              <a:t>	Get </a:t>
            </a:r>
            <a:r>
              <a:rPr lang="en-US" sz="2200" dirty="0"/>
              <a:t>the Build Output </a:t>
            </a:r>
            <a:r>
              <a:rPr lang="en-US" sz="2200" dirty="0" smtClean="0"/>
              <a:t>Artifact</a:t>
            </a:r>
            <a:endParaRPr lang="en-US" sz="2200" dirty="0"/>
          </a:p>
        </p:txBody>
      </p:sp>
    </p:spTree>
    <p:extLst>
      <p:ext uri="{BB962C8B-B14F-4D97-AF65-F5344CB8AC3E}">
        <p14:creationId xmlns:p14="http://schemas.microsoft.com/office/powerpoint/2010/main" val="803003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565" y="0"/>
            <a:ext cx="11390812" cy="7571303"/>
          </a:xfrm>
          <a:prstGeom prst="rect">
            <a:avLst/>
          </a:prstGeom>
        </p:spPr>
        <p:txBody>
          <a:bodyPr wrap="square">
            <a:spAutoFit/>
          </a:bodyPr>
          <a:lstStyle/>
          <a:p>
            <a:r>
              <a:rPr lang="en-US" b="1" dirty="0">
                <a:solidFill>
                  <a:srgbClr val="E47911"/>
                </a:solidFill>
                <a:latin typeface="+mj-lt"/>
              </a:rPr>
              <a:t>AWS </a:t>
            </a:r>
            <a:r>
              <a:rPr lang="en-US" b="1" dirty="0" err="1" smtClean="0">
                <a:solidFill>
                  <a:srgbClr val="E47911"/>
                </a:solidFill>
                <a:latin typeface="+mj-lt"/>
              </a:rPr>
              <a:t>CodeDeploy</a:t>
            </a:r>
            <a:r>
              <a:rPr lang="en-US" b="1" dirty="0" smtClean="0">
                <a:solidFill>
                  <a:srgbClr val="E47911"/>
                </a:solidFill>
                <a:latin typeface="+mj-lt"/>
              </a:rPr>
              <a:t>:</a:t>
            </a:r>
          </a:p>
          <a:p>
            <a:r>
              <a:rPr lang="en-US" dirty="0">
                <a:latin typeface="+mj-lt"/>
              </a:rPr>
              <a:t>AWS </a:t>
            </a:r>
            <a:r>
              <a:rPr lang="en-US" dirty="0" err="1">
                <a:latin typeface="+mj-lt"/>
              </a:rPr>
              <a:t>CodeDeploy</a:t>
            </a:r>
            <a:r>
              <a:rPr lang="en-US" dirty="0">
                <a:latin typeface="+mj-lt"/>
              </a:rPr>
              <a:t> is a deployment service that automates application deployments to </a:t>
            </a:r>
            <a:endParaRPr lang="en-US" dirty="0" smtClean="0">
              <a:latin typeface="+mj-lt"/>
            </a:endParaRPr>
          </a:p>
          <a:p>
            <a:r>
              <a:rPr lang="en-US" dirty="0">
                <a:latin typeface="+mj-lt"/>
              </a:rPr>
              <a:t>	</a:t>
            </a:r>
            <a:r>
              <a:rPr lang="en-US" dirty="0" smtClean="0">
                <a:latin typeface="+mj-lt"/>
              </a:rPr>
              <a:t>	</a:t>
            </a:r>
            <a:r>
              <a:rPr lang="en-US" dirty="0">
                <a:latin typeface="+mj-lt"/>
              </a:rPr>
              <a:t>EC2/On Instances</a:t>
            </a:r>
          </a:p>
          <a:p>
            <a:r>
              <a:rPr lang="en-US" dirty="0">
                <a:latin typeface="+mj-lt"/>
              </a:rPr>
              <a:t>	</a:t>
            </a:r>
            <a:r>
              <a:rPr lang="en-US" dirty="0" smtClean="0">
                <a:latin typeface="+mj-lt"/>
              </a:rPr>
              <a:t>	</a:t>
            </a:r>
            <a:r>
              <a:rPr lang="en-US" dirty="0" err="1" smtClean="0">
                <a:latin typeface="+mj-lt"/>
              </a:rPr>
              <a:t>Serverless</a:t>
            </a:r>
            <a:r>
              <a:rPr lang="en-US" dirty="0" smtClean="0">
                <a:latin typeface="+mj-lt"/>
              </a:rPr>
              <a:t> </a:t>
            </a:r>
            <a:r>
              <a:rPr lang="en-US" dirty="0">
                <a:latin typeface="+mj-lt"/>
              </a:rPr>
              <a:t>Lambda functions</a:t>
            </a:r>
            <a:r>
              <a:rPr lang="en-US" dirty="0" smtClean="0">
                <a:latin typeface="+mj-lt"/>
              </a:rPr>
              <a:t>.</a:t>
            </a:r>
            <a:endParaRPr lang="en-US" dirty="0">
              <a:latin typeface="+mj-lt"/>
            </a:endParaRPr>
          </a:p>
          <a:p>
            <a:r>
              <a:rPr lang="en-US" b="1" dirty="0">
                <a:latin typeface="+mj-lt"/>
              </a:rPr>
              <a:t>Benefits of AWS </a:t>
            </a:r>
            <a:r>
              <a:rPr lang="en-US" b="1" dirty="0" err="1">
                <a:latin typeface="+mj-lt"/>
              </a:rPr>
              <a:t>CodeDeploy</a:t>
            </a:r>
            <a:endParaRPr lang="en-US" b="1" dirty="0">
              <a:latin typeface="+mj-lt"/>
            </a:endParaRPr>
          </a:p>
          <a:p>
            <a:pPr lvl="1"/>
            <a:r>
              <a:rPr lang="en-US" dirty="0" smtClean="0">
                <a:latin typeface="+mj-lt"/>
              </a:rPr>
              <a:t>Server </a:t>
            </a:r>
            <a:r>
              <a:rPr lang="en-US" dirty="0">
                <a:latin typeface="+mj-lt"/>
              </a:rPr>
              <a:t>and </a:t>
            </a:r>
            <a:r>
              <a:rPr lang="en-US" dirty="0" err="1">
                <a:latin typeface="+mj-lt"/>
              </a:rPr>
              <a:t>serverless</a:t>
            </a:r>
            <a:r>
              <a:rPr lang="en-US" dirty="0">
                <a:latin typeface="+mj-lt"/>
              </a:rPr>
              <a:t> applications. 	</a:t>
            </a:r>
          </a:p>
          <a:p>
            <a:pPr lvl="1"/>
            <a:r>
              <a:rPr lang="en-US" dirty="0">
                <a:latin typeface="+mj-lt"/>
              </a:rPr>
              <a:t>Automated deployments. 	</a:t>
            </a:r>
          </a:p>
          <a:p>
            <a:pPr lvl="1"/>
            <a:r>
              <a:rPr lang="en-US" dirty="0">
                <a:latin typeface="+mj-lt"/>
              </a:rPr>
              <a:t>Minimize downtime. 	</a:t>
            </a:r>
          </a:p>
          <a:p>
            <a:pPr lvl="1"/>
            <a:r>
              <a:rPr lang="en-US" dirty="0">
                <a:latin typeface="+mj-lt"/>
              </a:rPr>
              <a:t>Stop and roll back. 	</a:t>
            </a:r>
          </a:p>
          <a:p>
            <a:pPr lvl="1"/>
            <a:r>
              <a:rPr lang="en-US" dirty="0">
                <a:latin typeface="+mj-lt"/>
              </a:rPr>
              <a:t>	</a:t>
            </a:r>
            <a:endParaRPr lang="en-US" b="1" dirty="0" smtClean="0">
              <a:solidFill>
                <a:srgbClr val="E47911"/>
              </a:solidFill>
              <a:latin typeface="+mj-lt"/>
            </a:endParaRPr>
          </a:p>
          <a:p>
            <a:r>
              <a:rPr lang="en-US" dirty="0">
                <a:latin typeface="+mj-lt"/>
              </a:rPr>
              <a:t>AWS </a:t>
            </a:r>
            <a:r>
              <a:rPr lang="en-US" dirty="0" err="1">
                <a:latin typeface="+mj-lt"/>
              </a:rPr>
              <a:t>CodeDeploy</a:t>
            </a:r>
            <a:r>
              <a:rPr lang="en-US" dirty="0">
                <a:latin typeface="+mj-lt"/>
              </a:rPr>
              <a:t> is able to deploy applications to two compute platforms</a:t>
            </a:r>
            <a:r>
              <a:rPr lang="en-US" dirty="0" smtClean="0">
                <a:latin typeface="+mj-lt"/>
              </a:rPr>
              <a:t>:</a:t>
            </a:r>
          </a:p>
          <a:p>
            <a:pPr marL="342900" indent="-342900">
              <a:buFont typeface="Arial" panose="020B0604020202020204" pitchFamily="34" charset="0"/>
              <a:buChar char="•"/>
            </a:pPr>
            <a:r>
              <a:rPr lang="en-US" dirty="0" smtClean="0">
                <a:latin typeface="+mj-lt"/>
              </a:rPr>
              <a:t>EC2/On-Premises</a:t>
            </a:r>
            <a:endParaRPr lang="en-US" dirty="0">
              <a:latin typeface="+mj-lt"/>
            </a:endParaRPr>
          </a:p>
          <a:p>
            <a:pPr marL="342900" indent="-342900">
              <a:buFont typeface="Arial" panose="020B0604020202020204" pitchFamily="34" charset="0"/>
              <a:buChar char="•"/>
            </a:pPr>
            <a:r>
              <a:rPr lang="en-US" dirty="0" smtClean="0">
                <a:latin typeface="+mj-lt"/>
              </a:rPr>
              <a:t>AWS Lambda</a:t>
            </a:r>
            <a:endParaRPr lang="en-US" b="1" dirty="0">
              <a:solidFill>
                <a:srgbClr val="E47911"/>
              </a:solidFill>
              <a:latin typeface="+mj-lt"/>
            </a:endParaRPr>
          </a:p>
          <a:p>
            <a:r>
              <a:rPr lang="en-US" dirty="0" smtClean="0">
                <a:latin typeface="+mj-lt"/>
              </a:rPr>
              <a:t>AWS </a:t>
            </a:r>
            <a:r>
              <a:rPr lang="en-US" dirty="0" err="1">
                <a:latin typeface="+mj-lt"/>
              </a:rPr>
              <a:t>CodeDeploy</a:t>
            </a:r>
            <a:r>
              <a:rPr lang="en-US" dirty="0">
                <a:latin typeface="+mj-lt"/>
              </a:rPr>
              <a:t> provides two deployment type </a:t>
            </a:r>
            <a:r>
              <a:rPr lang="en-US" dirty="0" smtClean="0">
                <a:latin typeface="+mj-lt"/>
              </a:rPr>
              <a:t>options:</a:t>
            </a:r>
          </a:p>
          <a:p>
            <a:r>
              <a:rPr lang="en-US" b="1" dirty="0" smtClean="0">
                <a:latin typeface="+mj-lt"/>
              </a:rPr>
              <a:t>In-place </a:t>
            </a:r>
            <a:r>
              <a:rPr lang="en-US" b="1" dirty="0">
                <a:latin typeface="+mj-lt"/>
              </a:rPr>
              <a:t>deployment</a:t>
            </a:r>
            <a:r>
              <a:rPr lang="en-US" dirty="0" smtClean="0">
                <a:latin typeface="+mj-lt"/>
              </a:rPr>
              <a:t>:</a:t>
            </a:r>
          </a:p>
          <a:p>
            <a:pPr lvl="1"/>
            <a:r>
              <a:rPr lang="en-US" dirty="0" smtClean="0">
                <a:latin typeface="+mj-lt"/>
              </a:rPr>
              <a:t>	The </a:t>
            </a:r>
            <a:r>
              <a:rPr lang="en-US" dirty="0">
                <a:latin typeface="+mj-lt"/>
              </a:rPr>
              <a:t>application on </a:t>
            </a:r>
            <a:r>
              <a:rPr lang="en-US" b="1" dirty="0">
                <a:latin typeface="+mj-lt"/>
              </a:rPr>
              <a:t>each instance </a:t>
            </a:r>
            <a:r>
              <a:rPr lang="en-US" dirty="0">
                <a:latin typeface="+mj-lt"/>
              </a:rPr>
              <a:t>in the deployment group is </a:t>
            </a:r>
            <a:r>
              <a:rPr lang="en-US" b="1" dirty="0">
                <a:latin typeface="+mj-lt"/>
              </a:rPr>
              <a:t>stopped</a:t>
            </a:r>
            <a:r>
              <a:rPr lang="en-US" dirty="0">
                <a:latin typeface="+mj-lt"/>
              </a:rPr>
              <a:t>, the </a:t>
            </a:r>
            <a:r>
              <a:rPr lang="en-US" b="1" dirty="0">
                <a:latin typeface="+mj-lt"/>
              </a:rPr>
              <a:t>latest application</a:t>
            </a:r>
            <a:r>
              <a:rPr lang="en-US" dirty="0">
                <a:latin typeface="+mj-lt"/>
              </a:rPr>
              <a:t> revision is </a:t>
            </a:r>
            <a:r>
              <a:rPr lang="en-US" b="1" dirty="0">
                <a:latin typeface="+mj-lt"/>
              </a:rPr>
              <a:t>installed</a:t>
            </a:r>
            <a:r>
              <a:rPr lang="en-US" dirty="0">
                <a:latin typeface="+mj-lt"/>
              </a:rPr>
              <a:t>, and the new version of the application is started and validated. You can use a load balancer so that each instance is deregistered during its deployment and then restored to service after the deployment is complete. </a:t>
            </a:r>
            <a:endParaRPr lang="en-US" dirty="0" smtClean="0">
              <a:latin typeface="+mj-lt"/>
            </a:endParaRPr>
          </a:p>
          <a:p>
            <a:r>
              <a:rPr lang="en-US" b="1" dirty="0" smtClean="0">
                <a:latin typeface="+mj-lt"/>
              </a:rPr>
              <a:t>	Note</a:t>
            </a:r>
            <a:endParaRPr lang="en-US" b="1" dirty="0">
              <a:latin typeface="+mj-lt"/>
            </a:endParaRPr>
          </a:p>
          <a:p>
            <a:r>
              <a:rPr lang="en-US" dirty="0" smtClean="0">
                <a:latin typeface="+mj-lt"/>
              </a:rPr>
              <a:t>	     AWS </a:t>
            </a:r>
            <a:r>
              <a:rPr lang="en-US" dirty="0">
                <a:latin typeface="+mj-lt"/>
              </a:rPr>
              <a:t>Lambda compute platform deployments cannot use an in-place deployment type</a:t>
            </a:r>
            <a:r>
              <a:rPr lang="en-US" dirty="0" smtClean="0">
                <a:latin typeface="+mj-lt"/>
              </a:rPr>
              <a:t>.</a:t>
            </a:r>
          </a:p>
          <a:p>
            <a:r>
              <a:rPr lang="en-US" b="1" dirty="0">
                <a:latin typeface="+mj-lt"/>
              </a:rPr>
              <a:t>Blue/green deployment</a:t>
            </a:r>
            <a:r>
              <a:rPr lang="en-US" dirty="0" smtClean="0">
                <a:latin typeface="+mj-lt"/>
              </a:rPr>
              <a:t>:</a:t>
            </a:r>
          </a:p>
          <a:p>
            <a:r>
              <a:rPr lang="en-US" dirty="0">
                <a:latin typeface="+mj-lt"/>
              </a:rPr>
              <a:t>	</a:t>
            </a:r>
            <a:r>
              <a:rPr lang="en-US" dirty="0" smtClean="0">
                <a:latin typeface="+mj-lt"/>
              </a:rPr>
              <a:t> </a:t>
            </a:r>
            <a:r>
              <a:rPr lang="en-US" dirty="0">
                <a:latin typeface="+mj-lt"/>
              </a:rPr>
              <a:t>The behavior of your deployment depends on which compute platform you use:</a:t>
            </a:r>
          </a:p>
          <a:p>
            <a:r>
              <a:rPr lang="en-US" b="1" dirty="0" smtClean="0">
                <a:latin typeface="+mj-lt"/>
              </a:rPr>
              <a:t>	Blue/green </a:t>
            </a:r>
            <a:r>
              <a:rPr lang="en-US" b="1" dirty="0">
                <a:latin typeface="+mj-lt"/>
              </a:rPr>
              <a:t>on an EC2/On-Premises compute platform</a:t>
            </a:r>
            <a:r>
              <a:rPr lang="en-US" dirty="0">
                <a:latin typeface="+mj-lt"/>
              </a:rPr>
              <a:t>: The instances in a </a:t>
            </a:r>
            <a:r>
              <a:rPr lang="en-US" b="1" dirty="0" smtClean="0">
                <a:latin typeface="+mj-lt"/>
              </a:rPr>
              <a:t>deployment group </a:t>
            </a:r>
            <a:r>
              <a:rPr lang="en-US" dirty="0" smtClean="0">
                <a:latin typeface="+mj-lt"/>
              </a:rPr>
              <a:t>(</a:t>
            </a:r>
            <a:r>
              <a:rPr lang="en-US" dirty="0">
                <a:latin typeface="+mj-lt"/>
              </a:rPr>
              <a:t>the </a:t>
            </a:r>
            <a:r>
              <a:rPr lang="en-US" dirty="0" smtClean="0">
                <a:latin typeface="+mj-lt"/>
              </a:rPr>
              <a:t>original </a:t>
            </a:r>
            <a:r>
              <a:rPr lang="en-US" dirty="0">
                <a:latin typeface="+mj-lt"/>
              </a:rPr>
              <a:t>environment) are </a:t>
            </a:r>
            <a:r>
              <a:rPr lang="en-US" b="1" dirty="0">
                <a:latin typeface="+mj-lt"/>
              </a:rPr>
              <a:t>replaced by a different </a:t>
            </a:r>
            <a:r>
              <a:rPr lang="en-US" dirty="0">
                <a:latin typeface="+mj-lt"/>
              </a:rPr>
              <a:t>set of instances (the replacement environment) </a:t>
            </a:r>
          </a:p>
          <a:p>
            <a:endParaRPr lang="en-US" dirty="0">
              <a:latin typeface="+mj-lt"/>
            </a:endParaRPr>
          </a:p>
          <a:p>
            <a:pPr lvl="1"/>
            <a:endParaRPr lang="en-US" dirty="0">
              <a:latin typeface="+mj-lt"/>
            </a:endParaRPr>
          </a:p>
        </p:txBody>
      </p:sp>
    </p:spTree>
    <p:extLst>
      <p:ext uri="{BB962C8B-B14F-4D97-AF65-F5344CB8AC3E}">
        <p14:creationId xmlns:p14="http://schemas.microsoft.com/office/powerpoint/2010/main" val="768632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docs.aws.amazon.com/codedeploy/latest/userguide/images/sds_architec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31" y="496389"/>
            <a:ext cx="10314428" cy="552558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2809602" y="4525462"/>
            <a:ext cx="679716" cy="577759"/>
          </a:xfrm>
          <a:prstGeom prst="rect">
            <a:avLst/>
          </a:prstGeom>
        </p:spPr>
      </p:pic>
      <p:pic>
        <p:nvPicPr>
          <p:cNvPr id="3" name="Picture 2"/>
          <p:cNvPicPr>
            <a:picLocks noChangeAspect="1"/>
          </p:cNvPicPr>
          <p:nvPr/>
        </p:nvPicPr>
        <p:blipFill>
          <a:blip r:embed="rId3"/>
          <a:stretch>
            <a:fillRect/>
          </a:stretch>
        </p:blipFill>
        <p:spPr>
          <a:xfrm>
            <a:off x="6959237" y="1669051"/>
            <a:ext cx="679716" cy="577759"/>
          </a:xfrm>
          <a:prstGeom prst="rect">
            <a:avLst/>
          </a:prstGeom>
        </p:spPr>
      </p:pic>
      <p:pic>
        <p:nvPicPr>
          <p:cNvPr id="5" name="Picture 4"/>
          <p:cNvPicPr>
            <a:picLocks noChangeAspect="1"/>
          </p:cNvPicPr>
          <p:nvPr/>
        </p:nvPicPr>
        <p:blipFill>
          <a:blip r:embed="rId3"/>
          <a:stretch>
            <a:fillRect/>
          </a:stretch>
        </p:blipFill>
        <p:spPr>
          <a:xfrm>
            <a:off x="828402" y="1782262"/>
            <a:ext cx="679716" cy="577759"/>
          </a:xfrm>
          <a:prstGeom prst="rect">
            <a:avLst/>
          </a:prstGeom>
        </p:spPr>
      </p:pic>
      <p:pic>
        <p:nvPicPr>
          <p:cNvPr id="6" name="Picture 5"/>
          <p:cNvPicPr>
            <a:picLocks noChangeAspect="1"/>
          </p:cNvPicPr>
          <p:nvPr/>
        </p:nvPicPr>
        <p:blipFill>
          <a:blip r:embed="rId3"/>
          <a:stretch>
            <a:fillRect/>
          </a:stretch>
        </p:blipFill>
        <p:spPr>
          <a:xfrm>
            <a:off x="6772003" y="4525463"/>
            <a:ext cx="679716" cy="577759"/>
          </a:xfrm>
          <a:prstGeom prst="rect">
            <a:avLst/>
          </a:prstGeom>
        </p:spPr>
      </p:pic>
    </p:spTree>
    <p:extLst>
      <p:ext uri="{BB962C8B-B14F-4D97-AF65-F5344CB8AC3E}">
        <p14:creationId xmlns:p14="http://schemas.microsoft.com/office/powerpoint/2010/main" val="335668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560" y="397529"/>
            <a:ext cx="6742611" cy="424732"/>
          </a:xfrm>
          <a:noFill/>
        </p:spPr>
        <p:txBody>
          <a:bodyPr wrap="square" rtlCol="0">
            <a:spAutoFit/>
          </a:bodyPr>
          <a:lstStyle/>
          <a:p>
            <a:pPr algn="ctr"/>
            <a:r>
              <a:rPr lang="en-US" sz="2400" b="1" dirty="0">
                <a:latin typeface="+mn-lt"/>
                <a:ea typeface="+mn-ea"/>
                <a:cs typeface="+mn-cs"/>
              </a:rPr>
              <a:t> </a:t>
            </a:r>
            <a:r>
              <a:rPr lang="en-US" sz="2400" b="1" dirty="0" smtClean="0">
                <a:latin typeface="+mn-lt"/>
                <a:ea typeface="+mn-ea"/>
                <a:cs typeface="+mn-cs"/>
              </a:rPr>
              <a:t>CI – CD Pipeline</a:t>
            </a:r>
            <a:endParaRPr lang="en-US" sz="2400" b="1" dirty="0">
              <a:latin typeface="+mn-lt"/>
              <a:ea typeface="+mn-ea"/>
              <a:cs typeface="+mn-cs"/>
            </a:endParaRPr>
          </a:p>
        </p:txBody>
      </p:sp>
      <p:sp>
        <p:nvSpPr>
          <p:cNvPr id="3" name="Content Placeholder 2"/>
          <p:cNvSpPr>
            <a:spLocks noGrp="1"/>
          </p:cNvSpPr>
          <p:nvPr>
            <p:ph idx="1"/>
          </p:nvPr>
        </p:nvSpPr>
        <p:spPr>
          <a:xfrm>
            <a:off x="171993" y="822260"/>
            <a:ext cx="11858897" cy="5918173"/>
          </a:xfrm>
        </p:spPr>
        <p:txBody>
          <a:bodyPr>
            <a:normAutofit/>
          </a:bodyPr>
          <a:lstStyle/>
          <a:p>
            <a:r>
              <a:rPr lang="en-US" sz="2000" dirty="0">
                <a:latin typeface="+mj-lt"/>
              </a:rPr>
              <a:t>A pipeline helps you automate steps in your software delivery process, such as initiating automatic builds and then deploying to Amazon EC2 instances. You will use AWS </a:t>
            </a:r>
            <a:r>
              <a:rPr lang="en-US" sz="2000" dirty="0" err="1">
                <a:latin typeface="+mj-lt"/>
              </a:rPr>
              <a:t>CodePipeline</a:t>
            </a:r>
            <a:r>
              <a:rPr lang="en-US" sz="2000" dirty="0">
                <a:latin typeface="+mj-lt"/>
              </a:rPr>
              <a:t>, a service that builds, tests, and deploys your code every time there is a code change, based on the release process models you define. </a:t>
            </a:r>
            <a:endParaRPr lang="en-US" sz="2000" dirty="0" smtClean="0">
              <a:latin typeface="+mj-lt"/>
            </a:endParaRPr>
          </a:p>
          <a:p>
            <a:r>
              <a:rPr lang="en-US" sz="2000" dirty="0" smtClean="0">
                <a:latin typeface="+mj-lt"/>
              </a:rPr>
              <a:t>Use </a:t>
            </a:r>
            <a:r>
              <a:rPr lang="en-US" sz="2000" dirty="0" err="1">
                <a:latin typeface="+mj-lt"/>
              </a:rPr>
              <a:t>CodePipeline</a:t>
            </a:r>
            <a:r>
              <a:rPr lang="en-US" sz="2000" dirty="0">
                <a:latin typeface="+mj-lt"/>
              </a:rPr>
              <a:t> to orchestrate each step in your release process. As part of your setup, you will plug other AWS services into </a:t>
            </a:r>
            <a:r>
              <a:rPr lang="en-US" sz="2000" dirty="0" err="1">
                <a:latin typeface="+mj-lt"/>
              </a:rPr>
              <a:t>CodePipeline</a:t>
            </a:r>
            <a:r>
              <a:rPr lang="en-US" sz="2000" dirty="0">
                <a:latin typeface="+mj-lt"/>
              </a:rPr>
              <a:t> to complete your software delivery pipeline. </a:t>
            </a:r>
            <a:br>
              <a:rPr lang="en-US" sz="2000" dirty="0">
                <a:latin typeface="+mj-lt"/>
              </a:rPr>
            </a:br>
            <a:endParaRPr lang="en-US" sz="2000" dirty="0" smtClean="0">
              <a:latin typeface="+mj-lt"/>
            </a:endParaRPr>
          </a:p>
          <a:p>
            <a:endParaRPr lang="en-US" sz="2000" dirty="0">
              <a:latin typeface="+mj-lt"/>
            </a:endParaRPr>
          </a:p>
        </p:txBody>
      </p:sp>
      <p:pic>
        <p:nvPicPr>
          <p:cNvPr id="4" name="Picture 2" descr="setup-cicd-pipelin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701" y="2560319"/>
            <a:ext cx="8503922" cy="4081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8120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4" descr="AWS CodePipel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3953" y="3661825"/>
            <a:ext cx="8607598" cy="30524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                An example release process using AWS CodePipeline.&#10;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3953" y="0"/>
            <a:ext cx="8083126" cy="3325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5613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32806" y="153579"/>
            <a:ext cx="11845834" cy="6573791"/>
          </a:xfrm>
        </p:spPr>
        <p:txBody>
          <a:bodyPr>
            <a:normAutofit/>
          </a:bodyPr>
          <a:lstStyle/>
          <a:p>
            <a:r>
              <a:rPr lang="en-US" sz="2000" dirty="0" smtClean="0">
                <a:latin typeface="+mj-lt"/>
              </a:rPr>
              <a:t>Can do </a:t>
            </a:r>
            <a:r>
              <a:rPr lang="en-US" sz="2000" dirty="0">
                <a:latin typeface="+mj-lt"/>
              </a:rPr>
              <a:t>with AWS </a:t>
            </a:r>
            <a:r>
              <a:rPr lang="en-US" sz="2000" dirty="0" err="1" smtClean="0">
                <a:latin typeface="+mj-lt"/>
              </a:rPr>
              <a:t>CodePipeline</a:t>
            </a:r>
            <a:endParaRPr lang="en-US" sz="2000" dirty="0">
              <a:latin typeface="+mj-lt"/>
            </a:endParaRPr>
          </a:p>
          <a:p>
            <a:r>
              <a:rPr lang="en-US" sz="2000" dirty="0">
                <a:latin typeface="+mj-lt"/>
              </a:rPr>
              <a:t>You can use AWS </a:t>
            </a:r>
            <a:r>
              <a:rPr lang="en-US" sz="2000" b="1" dirty="0" err="1">
                <a:latin typeface="+mj-lt"/>
              </a:rPr>
              <a:t>CodePipeline</a:t>
            </a:r>
            <a:r>
              <a:rPr lang="en-US" sz="2000" dirty="0">
                <a:latin typeface="+mj-lt"/>
              </a:rPr>
              <a:t> to help you automatically build, test, and deploy your applications in the cloud. Specifically, you can:</a:t>
            </a:r>
          </a:p>
          <a:p>
            <a:pPr lvl="1"/>
            <a:r>
              <a:rPr lang="en-US" sz="2000" dirty="0">
                <a:latin typeface="+mj-lt"/>
              </a:rPr>
              <a:t>Automate</a:t>
            </a:r>
            <a:r>
              <a:rPr lang="en-US" sz="2000" b="1" dirty="0">
                <a:latin typeface="+mj-lt"/>
              </a:rPr>
              <a:t> your release processes:</a:t>
            </a:r>
            <a:r>
              <a:rPr lang="en-US" sz="2000" dirty="0">
                <a:latin typeface="+mj-lt"/>
              </a:rPr>
              <a:t> AWS </a:t>
            </a:r>
            <a:r>
              <a:rPr lang="en-US" sz="2000" dirty="0" err="1">
                <a:latin typeface="+mj-lt"/>
              </a:rPr>
              <a:t>CodePipeline</a:t>
            </a:r>
            <a:r>
              <a:rPr lang="en-US" sz="2000" dirty="0">
                <a:latin typeface="+mj-lt"/>
              </a:rPr>
              <a:t> fully automates your release process from end to end, starting from your source repository through build, test, and deployment. You can prevent changes from moving through a pipeline by including a manual approval action in any stage except a Source stage. You can automatically release when you want, in the way you want, on the systems of your choice, across one instance or multiple instances.</a:t>
            </a:r>
          </a:p>
          <a:p>
            <a:pPr lvl="1"/>
            <a:r>
              <a:rPr lang="en-US" sz="2000" b="1" dirty="0">
                <a:latin typeface="+mj-lt"/>
              </a:rPr>
              <a:t>Establish a consistent release process: </a:t>
            </a:r>
            <a:r>
              <a:rPr lang="en-US" sz="2000" dirty="0">
                <a:latin typeface="+mj-lt"/>
              </a:rPr>
              <a:t>Define a consistent set of steps for every code change. AWS </a:t>
            </a:r>
            <a:r>
              <a:rPr lang="en-US" sz="2000" dirty="0" err="1">
                <a:latin typeface="+mj-lt"/>
              </a:rPr>
              <a:t>CodePipeline</a:t>
            </a:r>
            <a:r>
              <a:rPr lang="en-US" sz="2000" dirty="0">
                <a:latin typeface="+mj-lt"/>
              </a:rPr>
              <a:t> runs each stage of your release according to your criteria.</a:t>
            </a:r>
          </a:p>
          <a:p>
            <a:pPr lvl="1"/>
            <a:r>
              <a:rPr lang="en-US" sz="2000" b="1" dirty="0">
                <a:latin typeface="+mj-lt"/>
              </a:rPr>
              <a:t>Speed up delivery while improving quality: </a:t>
            </a:r>
            <a:r>
              <a:rPr lang="en-US" sz="2000" dirty="0">
                <a:latin typeface="+mj-lt"/>
              </a:rPr>
              <a:t>You can automate your release process to allow your developers to test and release code incrementally and speed up the release of new features to your customers</a:t>
            </a:r>
            <a:r>
              <a:rPr lang="en-US" sz="2000" dirty="0" smtClean="0">
                <a:latin typeface="+mj-lt"/>
              </a:rPr>
              <a:t>.</a:t>
            </a:r>
          </a:p>
          <a:p>
            <a:pPr lvl="1"/>
            <a:r>
              <a:rPr lang="en-US" sz="2000" b="1" dirty="0" smtClean="0">
                <a:latin typeface="+mj-lt"/>
              </a:rPr>
              <a:t>View progress at-a-glance:</a:t>
            </a:r>
            <a:r>
              <a:rPr lang="en-US" sz="2000" dirty="0" smtClean="0">
                <a:latin typeface="+mj-lt"/>
              </a:rPr>
              <a:t> You can review real-time status of your pipelines, check the details of any alerts, retry failed actions, view details about the source revisions used in the latest pipeline execution in each stage, and manually rerun any pipeline.</a:t>
            </a:r>
          </a:p>
          <a:p>
            <a:pPr lvl="1"/>
            <a:r>
              <a:rPr lang="en-US" sz="2000" b="1" dirty="0" smtClean="0">
                <a:latin typeface="+mj-lt"/>
              </a:rPr>
              <a:t>View </a:t>
            </a:r>
            <a:r>
              <a:rPr lang="en-US" sz="2000" b="1" dirty="0">
                <a:latin typeface="+mj-lt"/>
              </a:rPr>
              <a:t>pipeline history details: </a:t>
            </a:r>
            <a:r>
              <a:rPr lang="en-US" sz="2000" dirty="0">
                <a:latin typeface="+mj-lt"/>
              </a:rPr>
              <a:t>You can view details about executions of a pipeline, including start and end times, run duration, and execution IDs.</a:t>
            </a:r>
          </a:p>
          <a:p>
            <a:endParaRPr lang="en-US" sz="2000" dirty="0"/>
          </a:p>
        </p:txBody>
      </p:sp>
    </p:spTree>
    <p:extLst>
      <p:ext uri="{BB962C8B-B14F-4D97-AF65-F5344CB8AC3E}">
        <p14:creationId xmlns:p14="http://schemas.microsoft.com/office/powerpoint/2010/main" val="10385725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10;                    A high-level artifacts workflow in AWS CodePipeline.&#10;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285" y="135747"/>
            <a:ext cx="8229600" cy="337185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10;        A sample two-stage pipeline viewed in the AWS CodePipeline console.&#10;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7428" y="135747"/>
            <a:ext cx="3257006" cy="6526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036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4245" y="140515"/>
            <a:ext cx="11858898" cy="6586855"/>
          </a:xfrm>
        </p:spPr>
        <p:txBody>
          <a:bodyPr>
            <a:normAutofit lnSpcReduction="10000"/>
          </a:bodyPr>
          <a:lstStyle/>
          <a:p>
            <a:r>
              <a:rPr lang="en-US" sz="2200" dirty="0" smtClean="0">
                <a:latin typeface="+mj-lt"/>
                <a:hlinkClick r:id="rId2"/>
              </a:rPr>
              <a:t>Continuous </a:t>
            </a:r>
            <a:r>
              <a:rPr lang="en-US" sz="2200" dirty="0">
                <a:latin typeface="+mj-lt"/>
                <a:hlinkClick r:id="rId2"/>
              </a:rPr>
              <a:t>delivery</a:t>
            </a:r>
            <a:r>
              <a:rPr lang="en-US" sz="2200" dirty="0">
                <a:latin typeface="+mj-lt"/>
              </a:rPr>
              <a:t> is a software development methodology where the release process is automated. Every software change is automatically built, tested, and deployed to production. Before the final push to production, a person, an automated test, or a business rule decides when the final push should occur. Although every successful software change can be immediately released to production with continuous delivery, not all changes need to be released right away.</a:t>
            </a:r>
          </a:p>
          <a:p>
            <a:r>
              <a:rPr lang="en-US" sz="2200" dirty="0">
                <a:latin typeface="+mj-lt"/>
                <a:hlinkClick r:id="rId3"/>
              </a:rPr>
              <a:t>Continuous integration</a:t>
            </a:r>
            <a:r>
              <a:rPr lang="en-US" sz="2200" dirty="0">
                <a:latin typeface="+mj-lt"/>
              </a:rPr>
              <a:t> is a software development practice where members of a team use a version control system and frequently integrate their work to the same location, such as a master branch. Each change is built and verified to detect integration errors as quickly as possible. Continuous integration is focused on automatically building and testing code, as compared to continuous delivery, which automates the entire software release process up to production.</a:t>
            </a:r>
          </a:p>
          <a:p>
            <a:pPr lvl="2"/>
            <a:r>
              <a:rPr lang="en-US" b="1" dirty="0">
                <a:latin typeface="+mj-lt"/>
              </a:rPr>
              <a:t>10 popular CI/CD tools</a:t>
            </a:r>
            <a:endParaRPr lang="en-US" b="1" dirty="0" smtClean="0">
              <a:latin typeface="+mj-lt"/>
            </a:endParaRPr>
          </a:p>
          <a:p>
            <a:pPr lvl="3"/>
            <a:r>
              <a:rPr lang="en-US" dirty="0" smtClean="0">
                <a:latin typeface="+mj-lt"/>
              </a:rPr>
              <a:t>Jenkins</a:t>
            </a:r>
            <a:endParaRPr lang="en-US" dirty="0">
              <a:latin typeface="+mj-lt"/>
            </a:endParaRPr>
          </a:p>
          <a:p>
            <a:pPr lvl="3"/>
            <a:r>
              <a:rPr lang="en-US" dirty="0" smtClean="0">
                <a:latin typeface="+mj-lt"/>
              </a:rPr>
              <a:t>TeamCity</a:t>
            </a:r>
            <a:endParaRPr lang="en-US" dirty="0">
              <a:latin typeface="+mj-lt"/>
            </a:endParaRPr>
          </a:p>
          <a:p>
            <a:pPr lvl="3"/>
            <a:r>
              <a:rPr lang="en-US" dirty="0" smtClean="0">
                <a:latin typeface="+mj-lt"/>
              </a:rPr>
              <a:t>Travis</a:t>
            </a:r>
            <a:endParaRPr lang="en-US" dirty="0">
              <a:latin typeface="+mj-lt"/>
            </a:endParaRPr>
          </a:p>
          <a:p>
            <a:pPr lvl="3"/>
            <a:r>
              <a:rPr lang="en-US" dirty="0">
                <a:latin typeface="+mj-lt"/>
              </a:rPr>
              <a:t>Go </a:t>
            </a:r>
            <a:r>
              <a:rPr lang="en-US" dirty="0" smtClean="0">
                <a:latin typeface="+mj-lt"/>
              </a:rPr>
              <a:t>CI-CD</a:t>
            </a:r>
            <a:endParaRPr lang="en-US" dirty="0">
              <a:latin typeface="+mj-lt"/>
            </a:endParaRPr>
          </a:p>
          <a:p>
            <a:pPr lvl="3"/>
            <a:r>
              <a:rPr lang="en-US" dirty="0" smtClean="0">
                <a:latin typeface="+mj-lt"/>
              </a:rPr>
              <a:t>Bamboo</a:t>
            </a:r>
            <a:endParaRPr lang="en-US" dirty="0">
              <a:latin typeface="+mj-lt"/>
            </a:endParaRPr>
          </a:p>
          <a:p>
            <a:pPr lvl="3"/>
            <a:r>
              <a:rPr lang="en-US" dirty="0" err="1">
                <a:latin typeface="+mj-lt"/>
              </a:rPr>
              <a:t>GitLab</a:t>
            </a:r>
            <a:r>
              <a:rPr lang="en-US" dirty="0">
                <a:latin typeface="+mj-lt"/>
              </a:rPr>
              <a:t> </a:t>
            </a:r>
          </a:p>
          <a:p>
            <a:pPr lvl="3"/>
            <a:r>
              <a:rPr lang="en-US" dirty="0" smtClean="0">
                <a:latin typeface="+mj-lt"/>
              </a:rPr>
              <a:t>Circle CI-CD</a:t>
            </a:r>
            <a:endParaRPr lang="en-US" dirty="0">
              <a:latin typeface="+mj-lt"/>
            </a:endParaRPr>
          </a:p>
          <a:p>
            <a:pPr lvl="3"/>
            <a:r>
              <a:rPr lang="en-US" dirty="0" err="1" smtClean="0">
                <a:latin typeface="+mj-lt"/>
              </a:rPr>
              <a:t>Codeship</a:t>
            </a:r>
            <a:endParaRPr lang="en-US" dirty="0" smtClean="0">
              <a:latin typeface="+mj-lt"/>
            </a:endParaRPr>
          </a:p>
          <a:p>
            <a:pPr lvl="3"/>
            <a:r>
              <a:rPr lang="en-US" dirty="0">
                <a:latin typeface="+mj-lt"/>
              </a:rPr>
              <a:t>Concourse</a:t>
            </a:r>
          </a:p>
          <a:p>
            <a:pPr lvl="3"/>
            <a:r>
              <a:rPr lang="en-US" dirty="0" err="1">
                <a:latin typeface="+mj-lt"/>
              </a:rPr>
              <a:t>codefresh</a:t>
            </a:r>
            <a:endParaRPr lang="en-US" dirty="0">
              <a:latin typeface="+mj-lt"/>
            </a:endParaRPr>
          </a:p>
          <a:p>
            <a:pPr lvl="1"/>
            <a:endParaRPr lang="en-US" dirty="0">
              <a:latin typeface="+mj-lt"/>
            </a:endParaRPr>
          </a:p>
        </p:txBody>
      </p:sp>
    </p:spTree>
    <p:extLst>
      <p:ext uri="{BB962C8B-B14F-4D97-AF65-F5344CB8AC3E}">
        <p14:creationId xmlns:p14="http://schemas.microsoft.com/office/powerpoint/2010/main" val="20668443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057" y="101327"/>
            <a:ext cx="11806646" cy="6612981"/>
          </a:xfrm>
        </p:spPr>
        <p:txBody>
          <a:bodyPr/>
          <a:lstStyle/>
          <a:p>
            <a:endParaRPr lang="en-US" dirty="0"/>
          </a:p>
          <a:p>
            <a:pPr lvl="1"/>
            <a:endParaRPr lang="en-US" sz="1700" dirty="0"/>
          </a:p>
        </p:txBody>
      </p:sp>
      <p:sp>
        <p:nvSpPr>
          <p:cNvPr id="5" name="Content Placeholder 2"/>
          <p:cNvSpPr txBox="1">
            <a:spLocks/>
          </p:cNvSpPr>
          <p:nvPr/>
        </p:nvSpPr>
        <p:spPr>
          <a:xfrm>
            <a:off x="224245" y="140515"/>
            <a:ext cx="11858898" cy="65868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500"/>
              </a:spcBef>
            </a:pPr>
            <a:r>
              <a:rPr lang="en-US" sz="2200" b="1" u="sng" dirty="0">
                <a:latin typeface="+mj-lt"/>
              </a:rPr>
              <a:t>CI Tools </a:t>
            </a:r>
            <a:r>
              <a:rPr lang="en-US" sz="2200" b="1" u="sng" dirty="0" smtClean="0">
                <a:latin typeface="+mj-lt"/>
              </a:rPr>
              <a:t>basics – Jenkins </a:t>
            </a:r>
            <a:endParaRPr lang="en-US" sz="1800" u="sng" dirty="0" smtClean="0">
              <a:latin typeface="+mj-lt"/>
            </a:endParaRPr>
          </a:p>
          <a:p>
            <a:r>
              <a:rPr lang="en-US" sz="2400" dirty="0">
                <a:latin typeface="+mj-lt"/>
              </a:rPr>
              <a:t> Jenkins is the most </a:t>
            </a:r>
            <a:r>
              <a:rPr lang="en-US" sz="2400" b="1" dirty="0">
                <a:latin typeface="+mj-lt"/>
              </a:rPr>
              <a:t>popular</a:t>
            </a:r>
            <a:r>
              <a:rPr lang="en-US" sz="2400" dirty="0">
                <a:latin typeface="+mj-lt"/>
              </a:rPr>
              <a:t> tool to do </a:t>
            </a:r>
            <a:r>
              <a:rPr lang="en-US" sz="2400" b="1" dirty="0">
                <a:latin typeface="+mj-lt"/>
              </a:rPr>
              <a:t>Continuous Integration and Continuous Delivery</a:t>
            </a:r>
            <a:r>
              <a:rPr lang="en-US" sz="2400" dirty="0">
                <a:latin typeface="+mj-lt"/>
              </a:rPr>
              <a:t> of your software:</a:t>
            </a:r>
          </a:p>
          <a:p>
            <a:r>
              <a:rPr lang="en-US" sz="2400" dirty="0">
                <a:latin typeface="+mj-lt"/>
              </a:rPr>
              <a:t>It’s free and </a:t>
            </a:r>
            <a:r>
              <a:rPr lang="en-US" sz="2400" b="1" dirty="0">
                <a:latin typeface="+mj-lt"/>
              </a:rPr>
              <a:t>open source</a:t>
            </a:r>
          </a:p>
          <a:p>
            <a:r>
              <a:rPr lang="en-US" sz="2400" dirty="0">
                <a:latin typeface="+mj-lt"/>
              </a:rPr>
              <a:t>It has a strong community with </a:t>
            </a:r>
            <a:r>
              <a:rPr lang="en-US" sz="2400" b="1" dirty="0">
                <a:latin typeface="+mj-lt"/>
              </a:rPr>
              <a:t>thousands of plugins</a:t>
            </a:r>
            <a:r>
              <a:rPr lang="en-US" sz="2400" dirty="0">
                <a:latin typeface="+mj-lt"/>
              </a:rPr>
              <a:t> you can use</a:t>
            </a:r>
          </a:p>
          <a:p>
            <a:r>
              <a:rPr lang="en-US" sz="2400" dirty="0">
                <a:latin typeface="+mj-lt"/>
              </a:rPr>
              <a:t>Jenkins is used in a lot of </a:t>
            </a:r>
            <a:r>
              <a:rPr lang="en-US" sz="2400" b="1" dirty="0">
                <a:latin typeface="+mj-lt"/>
              </a:rPr>
              <a:t>companies</a:t>
            </a:r>
            <a:r>
              <a:rPr lang="en-US" sz="2400" dirty="0">
                <a:latin typeface="+mj-lt"/>
              </a:rPr>
              <a:t>, from </a:t>
            </a:r>
            <a:r>
              <a:rPr lang="en-US" sz="2400" b="1" dirty="0">
                <a:latin typeface="+mj-lt"/>
              </a:rPr>
              <a:t>startups</a:t>
            </a:r>
            <a:r>
              <a:rPr lang="en-US" sz="2400" dirty="0">
                <a:latin typeface="+mj-lt"/>
              </a:rPr>
              <a:t> to enterprises</a:t>
            </a:r>
          </a:p>
          <a:p>
            <a:r>
              <a:rPr lang="en-US" sz="2400" b="1" dirty="0" smtClean="0">
                <a:latin typeface="+mj-lt"/>
              </a:rPr>
              <a:t>integrate </a:t>
            </a:r>
            <a:r>
              <a:rPr lang="en-US" sz="2400" b="1" dirty="0">
                <a:latin typeface="+mj-lt"/>
              </a:rPr>
              <a:t>Jenkins Pipelines with popular software tools</a:t>
            </a:r>
            <a:r>
              <a:rPr lang="en-US" sz="2400" dirty="0">
                <a:latin typeface="+mj-lt"/>
              </a:rPr>
              <a:t>, like:</a:t>
            </a:r>
          </a:p>
          <a:p>
            <a:pPr lvl="1"/>
            <a:r>
              <a:rPr lang="en-US" sz="2000" dirty="0">
                <a:latin typeface="+mj-lt"/>
              </a:rPr>
              <a:t>Docker</a:t>
            </a:r>
          </a:p>
          <a:p>
            <a:pPr lvl="1"/>
            <a:r>
              <a:rPr lang="en-US" sz="2000" dirty="0">
                <a:latin typeface="+mj-lt"/>
              </a:rPr>
              <a:t>GitHub / </a:t>
            </a:r>
            <a:r>
              <a:rPr lang="en-US" sz="2000" dirty="0" err="1">
                <a:latin typeface="+mj-lt"/>
              </a:rPr>
              <a:t>Bitbucket</a:t>
            </a:r>
            <a:endParaRPr lang="en-US" sz="2000" dirty="0">
              <a:latin typeface="+mj-lt"/>
            </a:endParaRPr>
          </a:p>
          <a:p>
            <a:pPr lvl="1"/>
            <a:r>
              <a:rPr lang="en-US" sz="2000" dirty="0" err="1">
                <a:latin typeface="+mj-lt"/>
              </a:rPr>
              <a:t>JFrog</a:t>
            </a:r>
            <a:r>
              <a:rPr lang="en-US" sz="2000" dirty="0">
                <a:latin typeface="+mj-lt"/>
              </a:rPr>
              <a:t> </a:t>
            </a:r>
            <a:r>
              <a:rPr lang="en-US" sz="2000" dirty="0" err="1">
                <a:latin typeface="+mj-lt"/>
              </a:rPr>
              <a:t>Artifactory</a:t>
            </a:r>
            <a:endParaRPr lang="en-US" sz="2000" dirty="0">
              <a:latin typeface="+mj-lt"/>
            </a:endParaRPr>
          </a:p>
          <a:p>
            <a:pPr lvl="1"/>
            <a:r>
              <a:rPr lang="en-US" sz="2000" dirty="0" err="1">
                <a:latin typeface="+mj-lt"/>
              </a:rPr>
              <a:t>SonarQube</a:t>
            </a:r>
            <a:endParaRPr lang="en-US" sz="2000" dirty="0">
              <a:latin typeface="+mj-lt"/>
            </a:endParaRPr>
          </a:p>
          <a:p>
            <a:pPr lvl="1"/>
            <a:r>
              <a:rPr lang="en-US" sz="2000" dirty="0" err="1">
                <a:latin typeface="+mj-lt"/>
              </a:rPr>
              <a:t>Onelogin</a:t>
            </a:r>
            <a:r>
              <a:rPr lang="en-US" sz="2000" dirty="0">
                <a:latin typeface="+mj-lt"/>
              </a:rPr>
              <a:t> (Using SAML</a:t>
            </a:r>
            <a:r>
              <a:rPr lang="en-US" sz="2000" dirty="0" smtClean="0">
                <a:latin typeface="+mj-lt"/>
              </a:rPr>
              <a:t>)</a:t>
            </a:r>
          </a:p>
          <a:p>
            <a:pPr lvl="1"/>
            <a:r>
              <a:rPr lang="en-US" sz="2000" dirty="0" smtClean="0">
                <a:latin typeface="+mj-lt"/>
              </a:rPr>
              <a:t>Maven</a:t>
            </a:r>
          </a:p>
          <a:p>
            <a:pPr lvl="1"/>
            <a:r>
              <a:rPr lang="en-US" sz="2000" dirty="0" smtClean="0">
                <a:latin typeface="+mj-lt"/>
              </a:rPr>
              <a:t>Ant</a:t>
            </a:r>
          </a:p>
          <a:p>
            <a:pPr lvl="1"/>
            <a:r>
              <a:rPr lang="en-US" sz="2000" dirty="0" smtClean="0">
                <a:latin typeface="+mj-lt"/>
              </a:rPr>
              <a:t>Jira</a:t>
            </a:r>
          </a:p>
          <a:p>
            <a:pPr lvl="1"/>
            <a:r>
              <a:rPr lang="en-US" sz="2000" dirty="0" smtClean="0">
                <a:latin typeface="+mj-lt"/>
              </a:rPr>
              <a:t>Confluence</a:t>
            </a:r>
            <a:endParaRPr lang="en-US" sz="2000" dirty="0">
              <a:latin typeface="+mj-lt"/>
            </a:endParaRPr>
          </a:p>
          <a:p>
            <a:r>
              <a:rPr lang="en-US" sz="2400" dirty="0">
                <a:latin typeface="+mj-lt"/>
              </a:rPr>
              <a:t>If you’re looking for </a:t>
            </a:r>
            <a:r>
              <a:rPr lang="en-US" sz="2400" dirty="0" smtClean="0">
                <a:latin typeface="+mj-lt"/>
              </a:rPr>
              <a:t>DevOps</a:t>
            </a:r>
            <a:r>
              <a:rPr lang="en-US" sz="2400" dirty="0">
                <a:latin typeface="+mj-lt"/>
              </a:rPr>
              <a:t> space, Jenkins is a must have skill.</a:t>
            </a:r>
          </a:p>
          <a:p>
            <a:pPr>
              <a:spcBef>
                <a:spcPts val="500"/>
              </a:spcBef>
            </a:pPr>
            <a:endParaRPr lang="en-US" sz="1800" dirty="0">
              <a:latin typeface="+mj-lt"/>
            </a:endParaRPr>
          </a:p>
        </p:txBody>
      </p:sp>
    </p:spTree>
    <p:extLst>
      <p:ext uri="{BB962C8B-B14F-4D97-AF65-F5344CB8AC3E}">
        <p14:creationId xmlns:p14="http://schemas.microsoft.com/office/powerpoint/2010/main" val="41841631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75149" y="115932"/>
            <a:ext cx="7025699" cy="6310993"/>
          </a:xfrm>
          <a:prstGeom prst="rect">
            <a:avLst/>
          </a:prstGeom>
        </p:spPr>
      </p:pic>
    </p:spTree>
    <p:extLst>
      <p:ext uri="{BB962C8B-B14F-4D97-AF65-F5344CB8AC3E}">
        <p14:creationId xmlns:p14="http://schemas.microsoft.com/office/powerpoint/2010/main" val="27096369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tit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03" y="255494"/>
            <a:ext cx="11839202"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8338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742" y="153580"/>
            <a:ext cx="11976463" cy="6586854"/>
          </a:xfrm>
        </p:spPr>
        <p:txBody>
          <a:bodyPr>
            <a:normAutofit fontScale="77500" lnSpcReduction="20000"/>
          </a:bodyPr>
          <a:lstStyle/>
          <a:p>
            <a:r>
              <a:rPr lang="en-US" sz="2600" dirty="0">
                <a:latin typeface="+mj-lt"/>
              </a:rPr>
              <a:t>Get code from </a:t>
            </a:r>
            <a:r>
              <a:rPr lang="en-US" sz="2600" dirty="0" err="1">
                <a:latin typeface="+mj-lt"/>
              </a:rPr>
              <a:t>Git</a:t>
            </a:r>
            <a:endParaRPr lang="en-US" sz="2600" dirty="0">
              <a:latin typeface="+mj-lt"/>
            </a:endParaRPr>
          </a:p>
          <a:p>
            <a:pPr lvl="1"/>
            <a:r>
              <a:rPr lang="en-US" sz="2600" dirty="0">
                <a:latin typeface="+mj-lt"/>
              </a:rPr>
              <a:t>Developer pushes code to </a:t>
            </a:r>
            <a:r>
              <a:rPr lang="en-US" sz="2600" dirty="0" err="1">
                <a:latin typeface="+mj-lt"/>
              </a:rPr>
              <a:t>Git</a:t>
            </a:r>
            <a:r>
              <a:rPr lang="en-US" sz="2600" dirty="0">
                <a:latin typeface="+mj-lt"/>
              </a:rPr>
              <a:t>, which triggers a Jenkins build </a:t>
            </a:r>
            <a:r>
              <a:rPr lang="en-US" sz="2600" dirty="0" err="1">
                <a:latin typeface="+mj-lt"/>
              </a:rPr>
              <a:t>webhook</a:t>
            </a:r>
            <a:r>
              <a:rPr lang="en-US" sz="2600" dirty="0">
                <a:latin typeface="+mj-lt"/>
              </a:rPr>
              <a:t>.</a:t>
            </a:r>
          </a:p>
          <a:p>
            <a:pPr lvl="1"/>
            <a:r>
              <a:rPr lang="en-US" sz="2600" dirty="0">
                <a:latin typeface="+mj-lt"/>
              </a:rPr>
              <a:t>Jenkins pulls the latest code changes.</a:t>
            </a:r>
          </a:p>
          <a:p>
            <a:r>
              <a:rPr lang="en-US" sz="2600" dirty="0">
                <a:latin typeface="+mj-lt"/>
              </a:rPr>
              <a:t>Run build and unit tests</a:t>
            </a:r>
          </a:p>
          <a:p>
            <a:pPr lvl="1"/>
            <a:r>
              <a:rPr lang="en-US" sz="2600" dirty="0">
                <a:latin typeface="+mj-lt"/>
              </a:rPr>
              <a:t>Jenkins runs the build.</a:t>
            </a:r>
          </a:p>
          <a:p>
            <a:pPr lvl="1"/>
            <a:r>
              <a:rPr lang="en-US" sz="2600" dirty="0">
                <a:latin typeface="+mj-lt"/>
              </a:rPr>
              <a:t>Application’s Docker image is created during the build.- Tests run against a running Docker container.</a:t>
            </a:r>
          </a:p>
          <a:p>
            <a:r>
              <a:rPr lang="en-US" sz="2600" dirty="0">
                <a:latin typeface="+mj-lt"/>
              </a:rPr>
              <a:t>Publish Docker image and Helm Chart</a:t>
            </a:r>
          </a:p>
          <a:p>
            <a:pPr lvl="1"/>
            <a:r>
              <a:rPr lang="en-US" sz="2600" dirty="0">
                <a:latin typeface="+mj-lt"/>
              </a:rPr>
              <a:t>Application’s Docker image is pushed to the Docker registry.</a:t>
            </a:r>
          </a:p>
          <a:p>
            <a:pPr lvl="1"/>
            <a:r>
              <a:rPr lang="en-US" sz="2600" dirty="0">
                <a:latin typeface="+mj-lt"/>
              </a:rPr>
              <a:t>Helm chart is packed and uploaded to the Helm repository.</a:t>
            </a:r>
          </a:p>
          <a:p>
            <a:r>
              <a:rPr lang="en-US" sz="2600" dirty="0">
                <a:latin typeface="+mj-lt"/>
              </a:rPr>
              <a:t>Deploy to Development</a:t>
            </a:r>
          </a:p>
          <a:p>
            <a:pPr lvl="1"/>
            <a:r>
              <a:rPr lang="en-US" sz="2600" dirty="0">
                <a:latin typeface="+mj-lt"/>
              </a:rPr>
              <a:t>Application is deployed to the Kubernetes development cluster or namespace using the published Helm chart.</a:t>
            </a:r>
          </a:p>
          <a:p>
            <a:pPr lvl="1"/>
            <a:r>
              <a:rPr lang="en-US" sz="2600" dirty="0">
                <a:latin typeface="+mj-lt"/>
              </a:rPr>
              <a:t>Tests run against the deployed application in Kubernetes development environment.</a:t>
            </a:r>
          </a:p>
          <a:p>
            <a:r>
              <a:rPr lang="en-US" sz="2600" dirty="0">
                <a:latin typeface="+mj-lt"/>
              </a:rPr>
              <a:t>Deploy to Staging</a:t>
            </a:r>
          </a:p>
          <a:p>
            <a:pPr lvl="1"/>
            <a:r>
              <a:rPr lang="en-US" sz="2600" dirty="0">
                <a:latin typeface="+mj-lt"/>
              </a:rPr>
              <a:t>Application is deployed to Kubernetes staging cluster or namespace using the published Helm chart.</a:t>
            </a:r>
          </a:p>
          <a:p>
            <a:pPr lvl="1"/>
            <a:r>
              <a:rPr lang="en-US" sz="2600" dirty="0">
                <a:latin typeface="+mj-lt"/>
              </a:rPr>
              <a:t>Run tests against the deployed application in the Kubernetes staging environment.</a:t>
            </a:r>
          </a:p>
          <a:p>
            <a:r>
              <a:rPr lang="en-US" sz="2600" dirty="0">
                <a:latin typeface="+mj-lt"/>
              </a:rPr>
              <a:t>[Optional] Deploy to Production</a:t>
            </a:r>
          </a:p>
          <a:p>
            <a:pPr lvl="1"/>
            <a:r>
              <a:rPr lang="en-US" sz="2600" dirty="0">
                <a:latin typeface="+mj-lt"/>
              </a:rPr>
              <a:t>The application is deployed to the production cluster if the application meets the defined criteria. Please note that you can set up as a manual approval step.</a:t>
            </a:r>
          </a:p>
          <a:p>
            <a:pPr lvl="1"/>
            <a:r>
              <a:rPr lang="en-US" sz="2600" dirty="0">
                <a:latin typeface="+mj-lt"/>
              </a:rPr>
              <a:t>Sanity tests run against the deployed application.</a:t>
            </a:r>
          </a:p>
          <a:p>
            <a:pPr lvl="1"/>
            <a:r>
              <a:rPr lang="en-US" sz="2600" dirty="0">
                <a:latin typeface="+mj-lt"/>
              </a:rPr>
              <a:t>If required, you can perform a rollback.</a:t>
            </a:r>
          </a:p>
          <a:p>
            <a:endParaRPr lang="en-US" dirty="0">
              <a:latin typeface="+mj-lt"/>
            </a:endParaRPr>
          </a:p>
        </p:txBody>
      </p:sp>
    </p:spTree>
    <p:extLst>
      <p:ext uri="{BB962C8B-B14F-4D97-AF65-F5344CB8AC3E}">
        <p14:creationId xmlns:p14="http://schemas.microsoft.com/office/powerpoint/2010/main" val="2972042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9406" y="208870"/>
            <a:ext cx="12029101" cy="4519883"/>
          </a:xfrm>
          <a:prstGeom prst="rect">
            <a:avLst/>
          </a:prstGeom>
        </p:spPr>
      </p:pic>
    </p:spTree>
    <p:extLst>
      <p:ext uri="{BB962C8B-B14F-4D97-AF65-F5344CB8AC3E}">
        <p14:creationId xmlns:p14="http://schemas.microsoft.com/office/powerpoint/2010/main" val="3193634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0925" y="106403"/>
            <a:ext cx="11726092" cy="2831544"/>
          </a:xfrm>
          <a:prstGeom prst="rect">
            <a:avLst/>
          </a:prstGeom>
        </p:spPr>
        <p:txBody>
          <a:bodyPr wrap="square">
            <a:spAutoFit/>
          </a:bodyPr>
          <a:lstStyle/>
          <a:p>
            <a:r>
              <a:rPr lang="en-US" sz="2000" dirty="0">
                <a:latin typeface="+mj-lt"/>
              </a:rPr>
              <a:t>Bamboo: </a:t>
            </a:r>
          </a:p>
          <a:p>
            <a:r>
              <a:rPr lang="en-US" sz="2000" dirty="0">
                <a:latin typeface="+mj-lt"/>
                <a:hlinkClick r:id="rId2"/>
              </a:rPr>
              <a:t>Bamboo </a:t>
            </a:r>
            <a:r>
              <a:rPr lang="en-US" sz="2000" dirty="0">
                <a:latin typeface="+mj-lt"/>
              </a:rPr>
              <a:t>is a continuous integration server from </a:t>
            </a:r>
            <a:r>
              <a:rPr lang="en-US" sz="2000" dirty="0" err="1">
                <a:latin typeface="+mj-lt"/>
                <a:hlinkClick r:id="rId3"/>
              </a:rPr>
              <a:t>Atlassian</a:t>
            </a:r>
            <a:r>
              <a:rPr lang="en-US" sz="2000" dirty="0">
                <a:latin typeface="+mj-lt"/>
              </a:rPr>
              <a:t>. Its purpose is to provide developers with an environment which quickly compiles code for testing so that release cycles can be quickly implemented in production, while giving full traceability from the feature request all the way to its deployment.</a:t>
            </a:r>
          </a:p>
          <a:p>
            <a:r>
              <a:rPr lang="en-US" sz="2000" dirty="0">
                <a:latin typeface="+mj-lt"/>
              </a:rPr>
              <a:t> </a:t>
            </a:r>
          </a:p>
          <a:p>
            <a:r>
              <a:rPr lang="en-US" sz="2000" dirty="0" smtClean="0">
                <a:latin typeface="+mj-lt"/>
              </a:rPr>
              <a:t>Benefits </a:t>
            </a:r>
            <a:r>
              <a:rPr lang="en-US" sz="2000" dirty="0">
                <a:latin typeface="+mj-lt"/>
              </a:rPr>
              <a:t>: </a:t>
            </a:r>
          </a:p>
          <a:p>
            <a:r>
              <a:rPr lang="en-US" sz="2000" dirty="0" err="1">
                <a:latin typeface="+mj-lt"/>
              </a:rPr>
              <a:t>Atlassian’s</a:t>
            </a:r>
            <a:r>
              <a:rPr lang="en-US" sz="2000" dirty="0">
                <a:latin typeface="+mj-lt"/>
              </a:rPr>
              <a:t> Bamboo really shines for developers who are using other </a:t>
            </a:r>
            <a:r>
              <a:rPr lang="en-US" sz="2000" dirty="0" err="1">
                <a:latin typeface="+mj-lt"/>
              </a:rPr>
              <a:t>Atlassian</a:t>
            </a:r>
            <a:r>
              <a:rPr lang="en-US" sz="2000" dirty="0">
                <a:latin typeface="+mj-lt"/>
              </a:rPr>
              <a:t> products such as Jira and Stash. Bamboo is also quite easy to use and supports Continuous Integration to Continuous Delivery.</a:t>
            </a:r>
          </a:p>
          <a:p>
            <a:endParaRPr lang="en-US" b="0" i="0" dirty="0">
              <a:solidFill>
                <a:srgbClr val="3C4251"/>
              </a:solidFill>
              <a:effectLst/>
              <a:latin typeface="+mj-lt"/>
            </a:endParaRPr>
          </a:p>
        </p:txBody>
      </p:sp>
      <p:pic>
        <p:nvPicPr>
          <p:cNvPr id="6146" name="Picture 2" descr="More reasons to love Bamboo. Source; https://www.slideshare.net/AnnaIoceva/bamboo-presentation-annie-v2-460827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805" y="2886074"/>
            <a:ext cx="5324475" cy="3971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8332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056" y="179705"/>
            <a:ext cx="11767457" cy="3190512"/>
          </a:xfrm>
        </p:spPr>
        <p:txBody>
          <a:bodyPr/>
          <a:lstStyle/>
          <a:p>
            <a:pPr lvl="8"/>
            <a:r>
              <a:rPr lang="en-US" b="1" dirty="0" smtClean="0">
                <a:latin typeface="+mj-lt"/>
              </a:rPr>
              <a:t>Concourse</a:t>
            </a:r>
            <a:endParaRPr lang="en-US" b="1" dirty="0">
              <a:latin typeface="+mj-lt"/>
            </a:endParaRPr>
          </a:p>
          <a:p>
            <a:r>
              <a:rPr lang="en-US" sz="2000" dirty="0">
                <a:latin typeface="+mj-lt"/>
              </a:rPr>
              <a:t>Concourse is a CI/CD system remastered for teams that practice </a:t>
            </a:r>
            <a:r>
              <a:rPr lang="en-US" sz="2000" dirty="0">
                <a:latin typeface="+mj-lt"/>
                <a:hlinkClick r:id="rId2"/>
              </a:rPr>
              <a:t>agile development</a:t>
            </a:r>
            <a:r>
              <a:rPr lang="en-US" sz="2000" dirty="0">
                <a:latin typeface="+mj-lt"/>
              </a:rPr>
              <a:t> and need to handle complex delivery permutations. Concourse was conceived because of Pivotal engineers’ frustrations with existing continuous integration (CI) systems. Discover a fresh approach with Concourse when you need to:</a:t>
            </a:r>
          </a:p>
          <a:p>
            <a:r>
              <a:rPr lang="en-US" sz="2000" dirty="0">
                <a:latin typeface="+mj-lt"/>
              </a:rPr>
              <a:t> Automate test-driven development</a:t>
            </a:r>
          </a:p>
          <a:p>
            <a:r>
              <a:rPr lang="en-US" sz="2000" dirty="0">
                <a:latin typeface="+mj-lt"/>
              </a:rPr>
              <a:t> Maintain compatibility between multiple build versions</a:t>
            </a:r>
          </a:p>
          <a:p>
            <a:r>
              <a:rPr lang="en-US" sz="2000" dirty="0">
                <a:latin typeface="+mj-lt"/>
              </a:rPr>
              <a:t> Target multiple platforms and configurations such as different clouds</a:t>
            </a:r>
          </a:p>
          <a:p>
            <a:r>
              <a:rPr lang="en-US" sz="2000" dirty="0">
                <a:latin typeface="+mj-lt"/>
              </a:rPr>
              <a:t> Deliver frequently—weekly, daily, or even multiple times a day</a:t>
            </a:r>
          </a:p>
          <a:p>
            <a:endParaRPr lang="en-US" sz="2000" dirty="0">
              <a:latin typeface="+mj-lt"/>
            </a:endParaRPr>
          </a:p>
        </p:txBody>
      </p:sp>
    </p:spTree>
    <p:extLst>
      <p:ext uri="{BB962C8B-B14F-4D97-AF65-F5344CB8AC3E}">
        <p14:creationId xmlns:p14="http://schemas.microsoft.com/office/powerpoint/2010/main" val="602572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7280" y="148437"/>
            <a:ext cx="11756046" cy="3416320"/>
          </a:xfrm>
          <a:prstGeom prst="rect">
            <a:avLst/>
          </a:prstGeom>
        </p:spPr>
        <p:txBody>
          <a:bodyPr wrap="square">
            <a:spAutoFit/>
          </a:bodyPr>
          <a:lstStyle/>
          <a:p>
            <a:r>
              <a:rPr lang="en-US" b="1" dirty="0">
                <a:solidFill>
                  <a:srgbClr val="E47911"/>
                </a:solidFill>
                <a:latin typeface="+mj-lt"/>
              </a:rPr>
              <a:t>AWS </a:t>
            </a:r>
            <a:r>
              <a:rPr lang="en-US" b="1" dirty="0" err="1" smtClean="0">
                <a:solidFill>
                  <a:srgbClr val="E47911"/>
                </a:solidFill>
                <a:latin typeface="+mj-lt"/>
              </a:rPr>
              <a:t>CodeCommit</a:t>
            </a:r>
            <a:endParaRPr lang="en-US" b="1" dirty="0" smtClean="0">
              <a:solidFill>
                <a:srgbClr val="E47911"/>
              </a:solidFill>
              <a:latin typeface="+mj-lt"/>
            </a:endParaRPr>
          </a:p>
          <a:p>
            <a:r>
              <a:rPr lang="en-US" dirty="0">
                <a:latin typeface="+mj-lt"/>
              </a:rPr>
              <a:t>AWS </a:t>
            </a:r>
            <a:r>
              <a:rPr lang="en-US" dirty="0" err="1">
                <a:latin typeface="+mj-lt"/>
              </a:rPr>
              <a:t>CodeCommit</a:t>
            </a:r>
            <a:r>
              <a:rPr lang="en-US" dirty="0">
                <a:latin typeface="+mj-lt"/>
              </a:rPr>
              <a:t> is a version control service hosted by Amazon Web Services that you can use to privately store and manage assets (such as documents, source code, and binary files) in the </a:t>
            </a:r>
            <a:r>
              <a:rPr lang="en-US" dirty="0" smtClean="0">
                <a:latin typeface="+mj-lt"/>
              </a:rPr>
              <a:t>cloud</a:t>
            </a:r>
          </a:p>
          <a:p>
            <a:endParaRPr lang="en-US" dirty="0" smtClean="0">
              <a:latin typeface="+mj-lt"/>
            </a:endParaRPr>
          </a:p>
          <a:p>
            <a:r>
              <a:rPr lang="en-US" b="1" dirty="0">
                <a:latin typeface="+mj-lt"/>
              </a:rPr>
              <a:t>With AWS </a:t>
            </a:r>
            <a:r>
              <a:rPr lang="en-US" b="1" dirty="0" err="1">
                <a:latin typeface="+mj-lt"/>
              </a:rPr>
              <a:t>CodeCommit</a:t>
            </a:r>
            <a:r>
              <a:rPr lang="en-US" b="1" dirty="0">
                <a:latin typeface="+mj-lt"/>
              </a:rPr>
              <a:t>, </a:t>
            </a:r>
            <a:r>
              <a:rPr lang="en-US" b="1" dirty="0" smtClean="0">
                <a:latin typeface="+mj-lt"/>
              </a:rPr>
              <a:t>we can do below:</a:t>
            </a:r>
            <a:endParaRPr lang="en-US" b="1" dirty="0">
              <a:latin typeface="+mj-lt"/>
            </a:endParaRPr>
          </a:p>
          <a:p>
            <a:pPr lvl="1"/>
            <a:r>
              <a:rPr lang="en-US" dirty="0">
                <a:latin typeface="+mj-lt"/>
              </a:rPr>
              <a:t>Benefit from a fully managed service hosted by AWS.</a:t>
            </a:r>
          </a:p>
          <a:p>
            <a:pPr lvl="1"/>
            <a:r>
              <a:rPr lang="en-US" dirty="0">
                <a:latin typeface="+mj-lt"/>
              </a:rPr>
              <a:t>Store your code securely.</a:t>
            </a:r>
          </a:p>
          <a:p>
            <a:pPr lvl="1"/>
            <a:r>
              <a:rPr lang="en-US" dirty="0">
                <a:latin typeface="+mj-lt"/>
              </a:rPr>
              <a:t>Work collaboratively on code.</a:t>
            </a:r>
          </a:p>
          <a:p>
            <a:pPr lvl="1"/>
            <a:r>
              <a:rPr lang="en-US" dirty="0">
                <a:latin typeface="+mj-lt"/>
              </a:rPr>
              <a:t>Easily scale your version control projects.</a:t>
            </a:r>
          </a:p>
          <a:p>
            <a:pPr lvl="1"/>
            <a:r>
              <a:rPr lang="en-US" dirty="0">
                <a:latin typeface="+mj-lt"/>
              </a:rPr>
              <a:t>Store anything, anytime. </a:t>
            </a:r>
          </a:p>
          <a:p>
            <a:pPr lvl="1"/>
            <a:r>
              <a:rPr lang="en-US" dirty="0">
                <a:latin typeface="+mj-lt"/>
              </a:rPr>
              <a:t>Integrate with other AWS and third-party services. AWS Cloud9, </a:t>
            </a:r>
            <a:r>
              <a:rPr lang="en-US" dirty="0" err="1">
                <a:latin typeface="+mj-lt"/>
              </a:rPr>
              <a:t>CloudWatch</a:t>
            </a:r>
            <a:r>
              <a:rPr lang="en-US" dirty="0">
                <a:latin typeface="+mj-lt"/>
              </a:rPr>
              <a:t> Events AWS </a:t>
            </a:r>
            <a:r>
              <a:rPr lang="en-US" dirty="0" err="1">
                <a:latin typeface="+mj-lt"/>
              </a:rPr>
              <a:t>CodeStar</a:t>
            </a:r>
            <a:r>
              <a:rPr lang="en-US" dirty="0">
                <a:latin typeface="+mj-lt"/>
              </a:rPr>
              <a:t>,…</a:t>
            </a:r>
            <a:r>
              <a:rPr lang="en-US" dirty="0" err="1">
                <a:latin typeface="+mj-lt"/>
              </a:rPr>
              <a:t>etc</a:t>
            </a:r>
            <a:r>
              <a:rPr lang="en-US" dirty="0">
                <a:latin typeface="+mj-lt"/>
              </a:rPr>
              <a:t> </a:t>
            </a:r>
          </a:p>
          <a:p>
            <a:pPr lvl="1"/>
            <a:r>
              <a:rPr lang="en-US" dirty="0">
                <a:latin typeface="+mj-lt"/>
              </a:rPr>
              <a:t>Easily migrate files from other remote repositories</a:t>
            </a:r>
            <a:r>
              <a:rPr lang="en-US" dirty="0" smtClean="0">
                <a:latin typeface="+mj-lt"/>
              </a:rPr>
              <a:t>.</a:t>
            </a:r>
            <a:endParaRPr lang="en-US" dirty="0">
              <a:latin typeface="+mj-lt"/>
            </a:endParaRPr>
          </a:p>
        </p:txBody>
      </p:sp>
    </p:spTree>
    <p:extLst>
      <p:ext uri="{BB962C8B-B14F-4D97-AF65-F5344CB8AC3E}">
        <p14:creationId xmlns:p14="http://schemas.microsoft.com/office/powerpoint/2010/main" val="3330948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2847959" cy="369332"/>
          </a:xfrm>
          <a:prstGeom prst="rect">
            <a:avLst/>
          </a:prstGeom>
        </p:spPr>
        <p:txBody>
          <a:bodyPr wrap="none">
            <a:spAutoFit/>
          </a:bodyPr>
          <a:lstStyle/>
          <a:p>
            <a:r>
              <a:rPr lang="en-US" b="1" dirty="0">
                <a:solidFill>
                  <a:srgbClr val="CC6600"/>
                </a:solidFill>
                <a:latin typeface="Open Sans"/>
              </a:rPr>
              <a:t>AWS </a:t>
            </a:r>
            <a:r>
              <a:rPr lang="en-US" b="1" dirty="0" err="1">
                <a:solidFill>
                  <a:srgbClr val="CC6600"/>
                </a:solidFill>
                <a:latin typeface="Open Sans"/>
              </a:rPr>
              <a:t>CodeCommit</a:t>
            </a:r>
            <a:r>
              <a:rPr lang="en-US" b="1" dirty="0">
                <a:solidFill>
                  <a:srgbClr val="CC6600"/>
                </a:solidFill>
                <a:latin typeface="Open Sans"/>
              </a:rPr>
              <a:t> Work</a:t>
            </a:r>
            <a:endParaRPr lang="en-US" b="1" i="0" dirty="0">
              <a:solidFill>
                <a:srgbClr val="CC6600"/>
              </a:solidFill>
              <a:effectLst/>
              <a:latin typeface="Open Sans"/>
            </a:endParaRPr>
          </a:p>
        </p:txBody>
      </p:sp>
      <p:pic>
        <p:nvPicPr>
          <p:cNvPr id="3074" name="Picture 2" descr="&#10;        Typical AWS CodeCommit workflow&#10;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2489" y="369333"/>
            <a:ext cx="9811385" cy="6398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045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9485" y="0"/>
            <a:ext cx="11726091" cy="6463308"/>
          </a:xfrm>
          <a:prstGeom prst="rect">
            <a:avLst/>
          </a:prstGeom>
        </p:spPr>
        <p:txBody>
          <a:bodyPr wrap="square">
            <a:spAutoFit/>
          </a:bodyPr>
          <a:lstStyle/>
          <a:p>
            <a:r>
              <a:rPr lang="en-US" b="1" dirty="0" smtClean="0"/>
              <a:t>Create tag for the commit:</a:t>
            </a:r>
          </a:p>
          <a:p>
            <a:pPr lvl="2"/>
            <a:r>
              <a:rPr lang="en-US" dirty="0" smtClean="0"/>
              <a:t>VEERAMX1@IP-AC1FBC35 MINGW64 /d/Muniyappan/commit-TF/</a:t>
            </a:r>
            <a:r>
              <a:rPr lang="en-US" dirty="0" err="1" smtClean="0"/>
              <a:t>tf-vpc</a:t>
            </a:r>
            <a:r>
              <a:rPr lang="en-US" dirty="0" smtClean="0"/>
              <a:t> (feature/BIS-28-versioned-modules)</a:t>
            </a:r>
          </a:p>
          <a:p>
            <a:pPr lvl="2"/>
            <a:r>
              <a:rPr lang="en-US" dirty="0" smtClean="0"/>
              <a:t>$ </a:t>
            </a:r>
            <a:r>
              <a:rPr lang="en-US" b="1" dirty="0" err="1"/>
              <a:t>git</a:t>
            </a:r>
            <a:r>
              <a:rPr lang="en-US" b="1" dirty="0"/>
              <a:t> tag 1.0.0</a:t>
            </a:r>
          </a:p>
          <a:p>
            <a:pPr lvl="2"/>
            <a:endParaRPr lang="en-US" dirty="0"/>
          </a:p>
          <a:p>
            <a:pPr lvl="2"/>
            <a:r>
              <a:rPr lang="en-US" dirty="0"/>
              <a:t>VEERAMX1@IP-AC1FBC35 MINGW64 /d/Muniyappan/commit-TF/</a:t>
            </a:r>
            <a:r>
              <a:rPr lang="en-US" dirty="0" err="1"/>
              <a:t>tf</a:t>
            </a:r>
            <a:r>
              <a:rPr lang="en-US" dirty="0"/>
              <a:t>-</a:t>
            </a:r>
            <a:r>
              <a:rPr lang="en-US" dirty="0" err="1"/>
              <a:t>vpc</a:t>
            </a:r>
            <a:r>
              <a:rPr lang="en-US" dirty="0"/>
              <a:t>-peer (feature/BIS-28-versioned-modules)</a:t>
            </a:r>
          </a:p>
          <a:p>
            <a:pPr lvl="2"/>
            <a:r>
              <a:rPr lang="en-US" dirty="0"/>
              <a:t>$ </a:t>
            </a:r>
            <a:r>
              <a:rPr lang="en-US" b="1" dirty="0" err="1"/>
              <a:t>git</a:t>
            </a:r>
            <a:r>
              <a:rPr lang="en-US" b="1" dirty="0"/>
              <a:t> push origin : 1.0.0</a:t>
            </a:r>
          </a:p>
          <a:p>
            <a:pPr lvl="2"/>
            <a:r>
              <a:rPr lang="en-US" dirty="0"/>
              <a:t>Counting objects: 1, done.</a:t>
            </a:r>
          </a:p>
          <a:p>
            <a:pPr lvl="2"/>
            <a:r>
              <a:rPr lang="en-US" dirty="0"/>
              <a:t>Writing objects: 100% (1/1), 168 bytes | 0 bytes/s, done.</a:t>
            </a:r>
          </a:p>
          <a:p>
            <a:pPr lvl="2"/>
            <a:r>
              <a:rPr lang="en-US" dirty="0"/>
              <a:t>Total 1 (delta 0), reused 0 (delta 0)</a:t>
            </a:r>
          </a:p>
          <a:p>
            <a:pPr lvl="2"/>
            <a:r>
              <a:rPr lang="en-US" dirty="0"/>
              <a:t>To ssh://bitbucket.aipadmin.com/bis/tf-vpc-peer.git</a:t>
            </a:r>
          </a:p>
          <a:p>
            <a:pPr lvl="2"/>
            <a:r>
              <a:rPr lang="en-US" dirty="0"/>
              <a:t> * [new tag]         1.0.0 -&gt; </a:t>
            </a:r>
            <a:r>
              <a:rPr lang="en-US" dirty="0" smtClean="0"/>
              <a:t>1.0.0</a:t>
            </a:r>
          </a:p>
          <a:p>
            <a:endParaRPr lang="en-US" dirty="0" smtClean="0"/>
          </a:p>
          <a:p>
            <a:r>
              <a:rPr lang="en-US" b="1" dirty="0" smtClean="0"/>
              <a:t>Multiple commit into single commit</a:t>
            </a:r>
            <a:r>
              <a:rPr lang="en-US" dirty="0" smtClean="0"/>
              <a:t>: </a:t>
            </a:r>
            <a:endParaRPr lang="en-US" dirty="0"/>
          </a:p>
          <a:p>
            <a:pPr lvl="1"/>
            <a:r>
              <a:rPr lang="en-US" dirty="0" smtClean="0"/>
              <a:t>	</a:t>
            </a:r>
            <a:r>
              <a:rPr lang="en-US" dirty="0" err="1" smtClean="0"/>
              <a:t>git</a:t>
            </a:r>
            <a:r>
              <a:rPr lang="en-US" dirty="0" smtClean="0"/>
              <a:t> </a:t>
            </a:r>
            <a:r>
              <a:rPr lang="en-US" dirty="0"/>
              <a:t>rebase -</a:t>
            </a:r>
            <a:r>
              <a:rPr lang="en-US" dirty="0" err="1"/>
              <a:t>i</a:t>
            </a:r>
            <a:r>
              <a:rPr lang="en-US" dirty="0"/>
              <a:t> </a:t>
            </a:r>
            <a:r>
              <a:rPr lang="en-US" dirty="0" smtClean="0"/>
              <a:t>HEAD~8</a:t>
            </a:r>
          </a:p>
          <a:p>
            <a:r>
              <a:rPr lang="en-US" b="1" dirty="0" smtClean="0"/>
              <a:t>Branch rebase :</a:t>
            </a:r>
            <a:endParaRPr lang="en-US" b="1" dirty="0"/>
          </a:p>
          <a:p>
            <a:r>
              <a:rPr lang="en-US" b="1" dirty="0" smtClean="0"/>
              <a:t>	</a:t>
            </a:r>
            <a:r>
              <a:rPr lang="en-US" dirty="0" err="1" smtClean="0"/>
              <a:t>git</a:t>
            </a:r>
            <a:r>
              <a:rPr lang="en-US" dirty="0" smtClean="0"/>
              <a:t> clone -b “</a:t>
            </a:r>
            <a:r>
              <a:rPr lang="en-US" dirty="0" err="1" smtClean="0"/>
              <a:t>xxxxxxx</a:t>
            </a:r>
            <a:r>
              <a:rPr lang="en-US" dirty="0" smtClean="0"/>
              <a:t>”  repository-</a:t>
            </a:r>
            <a:r>
              <a:rPr lang="en-US" dirty="0" err="1" smtClean="0"/>
              <a:t>url</a:t>
            </a:r>
            <a:r>
              <a:rPr lang="en-US" dirty="0" smtClean="0"/>
              <a:t> </a:t>
            </a:r>
            <a:endParaRPr lang="en-US" dirty="0"/>
          </a:p>
          <a:p>
            <a:r>
              <a:rPr lang="en-US" dirty="0"/>
              <a:t>	</a:t>
            </a:r>
            <a:r>
              <a:rPr lang="en-US" dirty="0" err="1"/>
              <a:t>git</a:t>
            </a:r>
            <a:r>
              <a:rPr lang="en-US" dirty="0"/>
              <a:t> checkout "master"</a:t>
            </a:r>
          </a:p>
          <a:p>
            <a:r>
              <a:rPr lang="en-US" dirty="0"/>
              <a:t>	</a:t>
            </a:r>
            <a:r>
              <a:rPr lang="en-US" dirty="0" err="1"/>
              <a:t>git</a:t>
            </a:r>
            <a:r>
              <a:rPr lang="en-US" dirty="0"/>
              <a:t> rebase master</a:t>
            </a:r>
          </a:p>
          <a:p>
            <a:r>
              <a:rPr lang="en-US" dirty="0"/>
              <a:t>	</a:t>
            </a:r>
            <a:r>
              <a:rPr lang="en-US" dirty="0" err="1"/>
              <a:t>git</a:t>
            </a:r>
            <a:r>
              <a:rPr lang="en-US" dirty="0"/>
              <a:t> rebase master </a:t>
            </a:r>
            <a:r>
              <a:rPr lang="en-US" dirty="0" err="1"/>
              <a:t>bugfix</a:t>
            </a:r>
            <a:r>
              <a:rPr lang="en-US" dirty="0"/>
              <a:t>/BIS-1598-remove-duplicate-file-upload-bucket</a:t>
            </a:r>
          </a:p>
          <a:p>
            <a:r>
              <a:rPr lang="en-US" dirty="0"/>
              <a:t>	</a:t>
            </a:r>
            <a:r>
              <a:rPr lang="en-US" dirty="0" err="1"/>
              <a:t>git</a:t>
            </a:r>
            <a:r>
              <a:rPr lang="en-US" dirty="0"/>
              <a:t> rebase --continue</a:t>
            </a:r>
          </a:p>
          <a:p>
            <a:r>
              <a:rPr lang="en-US" dirty="0"/>
              <a:t>	</a:t>
            </a:r>
            <a:r>
              <a:rPr lang="en-US" dirty="0" err="1"/>
              <a:t>git</a:t>
            </a:r>
            <a:r>
              <a:rPr lang="en-US" dirty="0"/>
              <a:t> add .</a:t>
            </a:r>
          </a:p>
          <a:p>
            <a:r>
              <a:rPr lang="en-US" dirty="0"/>
              <a:t>	</a:t>
            </a:r>
            <a:r>
              <a:rPr lang="en-US" dirty="0" err="1"/>
              <a:t>git</a:t>
            </a:r>
            <a:r>
              <a:rPr lang="en-US" dirty="0"/>
              <a:t> commit -m "Rebased"</a:t>
            </a:r>
          </a:p>
          <a:p>
            <a:r>
              <a:rPr lang="en-US" dirty="0"/>
              <a:t>	</a:t>
            </a:r>
            <a:r>
              <a:rPr lang="en-US" dirty="0" err="1" smtClean="0"/>
              <a:t>git</a:t>
            </a:r>
            <a:r>
              <a:rPr lang="en-US" dirty="0" smtClean="0"/>
              <a:t> </a:t>
            </a:r>
            <a:r>
              <a:rPr lang="en-US" dirty="0"/>
              <a:t>push</a:t>
            </a:r>
          </a:p>
        </p:txBody>
      </p:sp>
    </p:spTree>
    <p:extLst>
      <p:ext uri="{BB962C8B-B14F-4D97-AF65-F5344CB8AC3E}">
        <p14:creationId xmlns:p14="http://schemas.microsoft.com/office/powerpoint/2010/main" val="423822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5131" y="130629"/>
            <a:ext cx="11769635" cy="5601533"/>
          </a:xfrm>
          <a:prstGeom prst="rect">
            <a:avLst/>
          </a:prstGeom>
        </p:spPr>
        <p:txBody>
          <a:bodyPr wrap="square">
            <a:spAutoFit/>
          </a:bodyPr>
          <a:lstStyle/>
          <a:p>
            <a:endParaRPr lang="en-US" dirty="0"/>
          </a:p>
          <a:p>
            <a:r>
              <a:rPr lang="en-US" b="1" dirty="0" smtClean="0"/>
              <a:t>Change </a:t>
            </a:r>
            <a:r>
              <a:rPr lang="en-US" b="1" dirty="0" err="1"/>
              <a:t>git</a:t>
            </a:r>
            <a:r>
              <a:rPr lang="en-US" b="1" dirty="0"/>
              <a:t> commit message after </a:t>
            </a:r>
            <a:r>
              <a:rPr lang="en-US" b="1" dirty="0" smtClean="0"/>
              <a:t>push: </a:t>
            </a:r>
          </a:p>
          <a:p>
            <a:endParaRPr lang="en-US" b="1" dirty="0"/>
          </a:p>
          <a:p>
            <a:r>
              <a:rPr lang="en-US" sz="1600" dirty="0"/>
              <a:t>VEERAMX1@IP-AC1FBC35 MINGW64 /d/working/Nov/nov-06/</a:t>
            </a:r>
            <a:r>
              <a:rPr lang="en-US" sz="1600" dirty="0" err="1"/>
              <a:t>bis</a:t>
            </a:r>
            <a:r>
              <a:rPr lang="en-US" sz="1600" dirty="0"/>
              <a:t>-infra-</a:t>
            </a:r>
            <a:r>
              <a:rPr lang="en-US" sz="1600" dirty="0" err="1"/>
              <a:t>aws</a:t>
            </a:r>
            <a:r>
              <a:rPr lang="en-US" sz="1600" dirty="0"/>
              <a:t> (</a:t>
            </a:r>
            <a:r>
              <a:rPr lang="en-US" sz="1600" dirty="0" err="1"/>
              <a:t>bugfix</a:t>
            </a:r>
            <a:r>
              <a:rPr lang="en-US" sz="1600" dirty="0"/>
              <a:t>/BIS-2168-dq-analysis-priority-queue)</a:t>
            </a:r>
          </a:p>
          <a:p>
            <a:r>
              <a:rPr lang="en-US" sz="1600" dirty="0"/>
              <a:t>$ </a:t>
            </a:r>
            <a:r>
              <a:rPr lang="en-US" sz="1600" b="1" dirty="0" err="1"/>
              <a:t>git</a:t>
            </a:r>
            <a:r>
              <a:rPr lang="en-US" sz="1600" b="1" dirty="0"/>
              <a:t> commit --amend -m "BIS-2721 Added data-quality bucket access for DQ compute </a:t>
            </a:r>
            <a:r>
              <a:rPr lang="en-US" sz="1600" b="1" dirty="0" err="1"/>
              <a:t>env</a:t>
            </a:r>
            <a:r>
              <a:rPr lang="en-US" sz="1600" b="1" dirty="0"/>
              <a:t> instance role"</a:t>
            </a:r>
          </a:p>
          <a:p>
            <a:r>
              <a:rPr lang="en-US" sz="1600" dirty="0"/>
              <a:t>[</a:t>
            </a:r>
            <a:r>
              <a:rPr lang="en-US" sz="1600" dirty="0" err="1"/>
              <a:t>bugfix</a:t>
            </a:r>
            <a:r>
              <a:rPr lang="en-US" sz="1600" dirty="0"/>
              <a:t>/BIS-2168-dq-analysis-priority-queue 3c00c41] BIS-2721 Added data-quality bucket access for DQ compute </a:t>
            </a:r>
            <a:r>
              <a:rPr lang="en-US" sz="1600" dirty="0" err="1"/>
              <a:t>env</a:t>
            </a:r>
            <a:r>
              <a:rPr lang="en-US" sz="1600" dirty="0"/>
              <a:t> instance role</a:t>
            </a:r>
          </a:p>
          <a:p>
            <a:r>
              <a:rPr lang="en-US" sz="1600" dirty="0"/>
              <a:t> Date: Mon Nov 6 12:34:20 2017 +0530</a:t>
            </a:r>
          </a:p>
          <a:p>
            <a:r>
              <a:rPr lang="en-US" sz="1600" dirty="0"/>
              <a:t> 1 file changed, 25 insertions(+)</a:t>
            </a:r>
          </a:p>
          <a:p>
            <a:endParaRPr lang="en-US" sz="1600" dirty="0"/>
          </a:p>
          <a:p>
            <a:r>
              <a:rPr lang="en-US" sz="1600" dirty="0"/>
              <a:t>VEERAMX1@IP-AC1FBC35 MINGW64 /d/working/Nov/nov-06/</a:t>
            </a:r>
            <a:r>
              <a:rPr lang="en-US" sz="1600" dirty="0" err="1"/>
              <a:t>bis</a:t>
            </a:r>
            <a:r>
              <a:rPr lang="en-US" sz="1600" dirty="0"/>
              <a:t>-infra-</a:t>
            </a:r>
            <a:r>
              <a:rPr lang="en-US" sz="1600" dirty="0" err="1"/>
              <a:t>aws</a:t>
            </a:r>
            <a:r>
              <a:rPr lang="en-US" sz="1600" dirty="0"/>
              <a:t> (</a:t>
            </a:r>
            <a:r>
              <a:rPr lang="en-US" sz="1600" dirty="0" err="1"/>
              <a:t>bugfix</a:t>
            </a:r>
            <a:r>
              <a:rPr lang="en-US" sz="1600" dirty="0"/>
              <a:t>/BIS-2168-dq-analysis-priority-queue)</a:t>
            </a:r>
          </a:p>
          <a:p>
            <a:r>
              <a:rPr lang="en-US" sz="1600" dirty="0"/>
              <a:t>$ </a:t>
            </a:r>
            <a:r>
              <a:rPr lang="en-US" sz="1600" b="1" dirty="0" err="1"/>
              <a:t>git</a:t>
            </a:r>
            <a:r>
              <a:rPr lang="en-US" sz="1600" b="1" dirty="0"/>
              <a:t> push -f</a:t>
            </a:r>
          </a:p>
          <a:p>
            <a:r>
              <a:rPr lang="en-US" sz="1600" dirty="0"/>
              <a:t>Counting objects: 3, done.</a:t>
            </a:r>
          </a:p>
          <a:p>
            <a:r>
              <a:rPr lang="en-US" sz="1600" dirty="0"/>
              <a:t>Delta compression using up to 2 threads.</a:t>
            </a:r>
          </a:p>
          <a:p>
            <a:r>
              <a:rPr lang="en-US" sz="1600" dirty="0"/>
              <a:t>Compressing objects: 100% (3/3), done.</a:t>
            </a:r>
          </a:p>
          <a:p>
            <a:r>
              <a:rPr lang="en-US" sz="1600" dirty="0"/>
              <a:t>Writing objects: 100% (3/3), 449 bytes | 0 bytes/s, done.</a:t>
            </a:r>
          </a:p>
          <a:p>
            <a:r>
              <a:rPr lang="en-US" sz="1600" dirty="0"/>
              <a:t>Total 3 (delta 2), reused 0 (delta 0)</a:t>
            </a:r>
          </a:p>
          <a:p>
            <a:r>
              <a:rPr lang="en-US" sz="1600" dirty="0"/>
              <a:t>remote:</a:t>
            </a:r>
          </a:p>
          <a:p>
            <a:r>
              <a:rPr lang="en-US" sz="1600" dirty="0"/>
              <a:t>remote: View pull request for </a:t>
            </a:r>
            <a:r>
              <a:rPr lang="en-US" sz="1600" dirty="0" err="1"/>
              <a:t>bugfix</a:t>
            </a:r>
            <a:r>
              <a:rPr lang="en-US" sz="1600" dirty="0"/>
              <a:t>/BIS-2168-dq-analysis-priority-queue =&gt; master:</a:t>
            </a:r>
          </a:p>
          <a:p>
            <a:r>
              <a:rPr lang="en-US" sz="1600" dirty="0"/>
              <a:t>remote:   https://bitbucket.aipadmin.com/projects/BIS/repos/bis-infra-aws/pull-requests/214</a:t>
            </a:r>
          </a:p>
          <a:p>
            <a:r>
              <a:rPr lang="en-US" sz="1600" dirty="0"/>
              <a:t>remote:</a:t>
            </a:r>
          </a:p>
          <a:p>
            <a:r>
              <a:rPr lang="en-US" sz="1600" dirty="0"/>
              <a:t>To ssh://bitbucket.aipadmin.com/bis/bis-infra-aws.git</a:t>
            </a:r>
          </a:p>
          <a:p>
            <a:r>
              <a:rPr lang="en-US" sz="1600" dirty="0"/>
              <a:t> + 3635acb...3c00c41 </a:t>
            </a:r>
            <a:r>
              <a:rPr lang="en-US" sz="1600" dirty="0" err="1"/>
              <a:t>bugfix</a:t>
            </a:r>
            <a:r>
              <a:rPr lang="en-US" sz="1600" dirty="0"/>
              <a:t>/BIS-2168-dq-analysis-priority-queue -&gt; </a:t>
            </a:r>
            <a:r>
              <a:rPr lang="en-US" sz="1600" dirty="0" err="1"/>
              <a:t>bugfix</a:t>
            </a:r>
            <a:r>
              <a:rPr lang="en-US" sz="1600" dirty="0"/>
              <a:t>/BIS-2168-dq-analysis-priority-queue (forced update)</a:t>
            </a:r>
          </a:p>
        </p:txBody>
      </p:sp>
    </p:spTree>
    <p:extLst>
      <p:ext uri="{BB962C8B-B14F-4D97-AF65-F5344CB8AC3E}">
        <p14:creationId xmlns:p14="http://schemas.microsoft.com/office/powerpoint/2010/main" val="3921291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495</TotalTime>
  <Words>1182</Words>
  <Application>Microsoft Office PowerPoint</Application>
  <PresentationFormat>Widescreen</PresentationFormat>
  <Paragraphs>242</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vt:lpstr>
      <vt:lpstr>Calibri</vt:lpstr>
      <vt:lpstr>Calibri Light</vt:lpstr>
      <vt:lpstr>Open Sans</vt:lpstr>
      <vt:lpstr>Wingdings</vt:lpstr>
      <vt:lpstr>Office Theme</vt:lpstr>
      <vt:lpstr>AWS Training topics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CI – CD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 Muniyappan (Cognizant)</dc:creator>
  <cp:lastModifiedBy>V, Muniyappan (Cognizant)</cp:lastModifiedBy>
  <cp:revision>139</cp:revision>
  <dcterms:created xsi:type="dcterms:W3CDTF">2018-03-05T06:22:44Z</dcterms:created>
  <dcterms:modified xsi:type="dcterms:W3CDTF">2018-03-20T13:15:45Z</dcterms:modified>
</cp:coreProperties>
</file>